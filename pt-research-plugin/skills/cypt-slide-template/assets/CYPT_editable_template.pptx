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ee5bb140145bb" /><Relationship Type="http://schemas.openxmlformats.org/officeDocument/2006/relationships/extended-properties" Target="/docProps/app.xml" Id="R85e3bf285baa430b" /><Relationship Type="http://schemas.openxmlformats.org/officeDocument/2006/relationships/officeDocument" Target="/ppt/presentation.xml" Id="R272c5a35c02c47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6d8fa9a19490b"/>
  </p:sldMasterIdLst>
  <p:notesMasterIdLst>
    <p:notesMasterId xmlns:r="http://schemas.openxmlformats.org/officeDocument/2006/relationships" r:id="R34c897352959431b"/>
  </p:notesMasterIdLst>
  <p:sldIdLst>
    <p:sldId xmlns:r="http://schemas.openxmlformats.org/officeDocument/2006/relationships" id="256" r:id="Rb6646158046c46d9"/>
    <p:sldId xmlns:r="http://schemas.openxmlformats.org/officeDocument/2006/relationships" id="257" r:id="Rb7b8802d17004e7e"/>
    <p:sldId xmlns:r="http://schemas.openxmlformats.org/officeDocument/2006/relationships" id="258" r:id="R852d132948024a36"/>
    <p:sldId xmlns:r="http://schemas.openxmlformats.org/officeDocument/2006/relationships" id="259" r:id="R034005b778db4379"/>
    <p:sldId xmlns:r="http://schemas.openxmlformats.org/officeDocument/2006/relationships" id="260" r:id="R4b5e2264db164d47"/>
    <p:sldId xmlns:r="http://schemas.openxmlformats.org/officeDocument/2006/relationships" id="261" r:id="R75c47244a7ca42b9"/>
    <p:sldId xmlns:r="http://schemas.openxmlformats.org/officeDocument/2006/relationships" id="262" r:id="R813b022b84614431"/>
    <p:sldId xmlns:r="http://schemas.openxmlformats.org/officeDocument/2006/relationships" id="263" r:id="Ra533590000c64fc7"/>
    <p:sldId xmlns:r="http://schemas.openxmlformats.org/officeDocument/2006/relationships" id="264" r:id="Rfc11390ebddd4102"/>
    <p:sldId xmlns:r="http://schemas.openxmlformats.org/officeDocument/2006/relationships" id="265" r:id="R8ee4acb75d474d65"/>
    <p:sldId xmlns:r="http://schemas.openxmlformats.org/officeDocument/2006/relationships" id="266" r:id="R0eb3f33363d74d17"/>
    <p:sldId xmlns:r="http://schemas.openxmlformats.org/officeDocument/2006/relationships" id="267" r:id="R5c4fb00a304242d7"/>
    <p:sldId xmlns:r="http://schemas.openxmlformats.org/officeDocument/2006/relationships" id="268" r:id="Ra8037abb21c943db"/>
    <p:sldId xmlns:r="http://schemas.openxmlformats.org/officeDocument/2006/relationships" id="269" r:id="Rd812362919614325"/>
    <p:sldId xmlns:r="http://schemas.openxmlformats.org/officeDocument/2006/relationships" id="270" r:id="R18473b05014a439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3c667cd9f437f" /><Relationship Type="http://schemas.openxmlformats.org/officeDocument/2006/relationships/slideMaster" Target="/ppt/slideMasters/slideMaster1.xml" Id="R1c76d8fa9a19490b" /><Relationship Type="http://schemas.openxmlformats.org/officeDocument/2006/relationships/notesMaster" Target="/ppt/notesMasters/notesMaster1.xml" Id="R34c897352959431b" /><Relationship Type="http://schemas.openxmlformats.org/officeDocument/2006/relationships/presProps" Target="/ppt/presProps.xml" Id="R6bc5b78147494dbb" /><Relationship Type="http://schemas.openxmlformats.org/officeDocument/2006/relationships/tableStyles" Target="/ppt/tableStyles.xml" Id="R31bd7766f37b421f" /><Relationship Type="http://schemas.openxmlformats.org/officeDocument/2006/relationships/slide" Target="/ppt/slides/slide1.xml" Id="Rb6646158046c46d9" /><Relationship Type="http://schemas.openxmlformats.org/officeDocument/2006/relationships/slide" Target="/ppt/slides/slide2.xml" Id="Rb7b8802d17004e7e" /><Relationship Type="http://schemas.openxmlformats.org/officeDocument/2006/relationships/slide" Target="/ppt/slides/slide3.xml" Id="R852d132948024a36" /><Relationship Type="http://schemas.openxmlformats.org/officeDocument/2006/relationships/slide" Target="/ppt/slides/slide4.xml" Id="R034005b778db4379" /><Relationship Type="http://schemas.openxmlformats.org/officeDocument/2006/relationships/slide" Target="/ppt/slides/slide5.xml" Id="R4b5e2264db164d47" /><Relationship Type="http://schemas.openxmlformats.org/officeDocument/2006/relationships/slide" Target="/ppt/slides/slide6.xml" Id="R75c47244a7ca42b9" /><Relationship Type="http://schemas.openxmlformats.org/officeDocument/2006/relationships/slide" Target="/ppt/slides/slide7.xml" Id="R813b022b84614431" /><Relationship Type="http://schemas.openxmlformats.org/officeDocument/2006/relationships/slide" Target="/ppt/slides/slide8.xml" Id="Ra533590000c64fc7" /><Relationship Type="http://schemas.openxmlformats.org/officeDocument/2006/relationships/slide" Target="/ppt/slides/slide9.xml" Id="Rfc11390ebddd4102" /><Relationship Type="http://schemas.openxmlformats.org/officeDocument/2006/relationships/slide" Target="/ppt/slides/slide10.xml" Id="R8ee4acb75d474d65" /><Relationship Type="http://schemas.openxmlformats.org/officeDocument/2006/relationships/slide" Target="/ppt/slides/slide11.xml" Id="R0eb3f33363d74d17" /><Relationship Type="http://schemas.openxmlformats.org/officeDocument/2006/relationships/slide" Target="/ppt/slides/slide12.xml" Id="R5c4fb00a304242d7" /><Relationship Type="http://schemas.openxmlformats.org/officeDocument/2006/relationships/slide" Target="/ppt/slides/slide13.xml" Id="Ra8037abb21c943db" /><Relationship Type="http://schemas.openxmlformats.org/officeDocument/2006/relationships/slide" Target="/ppt/slides/slide14.xml" Id="Rd812362919614325" /><Relationship Type="http://schemas.openxmlformats.org/officeDocument/2006/relationships/slide" Target="/ppt/slides/slide15.xml" Id="R18473b05014a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a728eb07d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1bb31131e5421f" /><Relationship Type="http://schemas.openxmlformats.org/officeDocument/2006/relationships/notesMaster" Target="/ppt/notesMasters/notesMaster1.xml" Id="R814162f24b1549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8c9e93bb44c19" /><Relationship Type="http://schemas.openxmlformats.org/officeDocument/2006/relationships/notesMaster" Target="/ppt/notesMasters/notesMaster1.xml" Id="Reabe6bed21a2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25c61bfdf41d1" /><Relationship Type="http://schemas.openxmlformats.org/officeDocument/2006/relationships/notesMaster" Target="/ppt/notesMasters/notesMaster1.xml" Id="R14169feb5a1f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6ef52ab8e49da" /><Relationship Type="http://schemas.openxmlformats.org/officeDocument/2006/relationships/notesMaster" Target="/ppt/notesMasters/notesMaster1.xml" Id="Re513d31aa2e340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258b5f92c349c9" /><Relationship Type="http://schemas.openxmlformats.org/officeDocument/2006/relationships/notesMaster" Target="/ppt/notesMasters/notesMaster1.xml" Id="R3edac28b56a240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f867ae5b1406c" /><Relationship Type="http://schemas.openxmlformats.org/officeDocument/2006/relationships/notesMaster" Target="/ppt/notesMasters/notesMaster1.xml" Id="R3bdd393fecca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ecdfcfde314ddb" /><Relationship Type="http://schemas.openxmlformats.org/officeDocument/2006/relationships/notesMaster" Target="/ppt/notesMasters/notesMaster1.xml" Id="R8de6348b291745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f2c1ea7d34d60" /><Relationship Type="http://schemas.openxmlformats.org/officeDocument/2006/relationships/notesMaster" Target="/ppt/notesMasters/notesMaster1.xml" Id="R8bcece73ffed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d6c7f6fccc4800" /><Relationship Type="http://schemas.openxmlformats.org/officeDocument/2006/relationships/notesMaster" Target="/ppt/notesMasters/notesMaster1.xml" Id="R2f32553e454b49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550b02e83344ae" /><Relationship Type="http://schemas.openxmlformats.org/officeDocument/2006/relationships/notesMaster" Target="/ppt/notesMasters/notesMaster1.xml" Id="Rcddc7e48842049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a4895ffb9542e4" /><Relationship Type="http://schemas.openxmlformats.org/officeDocument/2006/relationships/notesMaster" Target="/ppt/notesMasters/notesMaster1.xml" Id="Rf4e39094011542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986efe6ead441f" /><Relationship Type="http://schemas.openxmlformats.org/officeDocument/2006/relationships/notesMaster" Target="/ppt/notesMasters/notesMaster1.xml" Id="Rd076576225324a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ad4c5129134648" /><Relationship Type="http://schemas.openxmlformats.org/officeDocument/2006/relationships/notesMaster" Target="/ppt/notesMasters/notesMaster1.xml" Id="Rec3b5b28cae74b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86764c40374631" /><Relationship Type="http://schemas.openxmlformats.org/officeDocument/2006/relationships/notesMaster" Target="/ppt/notesMasters/notesMaster1.xml" Id="R4a8508db0e1646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ce88a231004ed3" /><Relationship Type="http://schemas.openxmlformats.org/officeDocument/2006/relationships/notesMaster" Target="/ppt/notesMasters/notesMaster1.xml" Id="R1ca95e695881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cover. Replace title, presenter, event label and prompt. Layout: restrained cover composition.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layout with parameter callouts. Replace the prompt wording with the problem actually being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Colored parameter-inventory page type. Groups and diagram are editable native shapes; replace the category labels, parameter wording and sample diagram for the problem being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 sections in assets/template-config.json and rerun the builder. The overview and every roadmap footer are generated from the same section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this divider for any section; update its section index in the build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is editable. This is a layout exemplar, not a validated model for any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three apparatus photos above three compact plots. Photos are replaceable image objects (placeholders unless local reference images are present). Plot lines are editable schematic drawings for layout only; the bracketed values are placeholders to be replaced with measured data and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Layout: two perturbed spinner diagrams and a dipole-to-linearized-equation hierarchy. The compact K substitution is for template readability; verify equations, assumptions and symbols independently before citing or presenting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Apparatus page type. Photographs are replaceable image objects (placeholders unless local reference images are present). Callout boxes, connectors and checkmark are editable. Ensure the photo orientation/crop and component labels fit the apparatus when reusing this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chart with illustrative values only. Replace every value, axis label, unit and legend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translucent conclusion banner across a graph. Rewrite the statement to a conclusion supported by the plotted data; remove the banner where it hides important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layout. Preserve measured values and uncertainty when transforming a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layout. Bullet content is instructional placeholder text, not a finding.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reference page. Replace every placeholder with traceable citations from the source presentation and any new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layout. Replace title and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ceecc307f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d2ec76e2844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797db57e04b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5a9ec04844a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410d2ef0f4f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30f122704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FC9AFF-AFDF-43CE-B2C6-FDD88AE8C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10CCE8-1C24-4CD7-B4C8-3D116695B4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D8C06F-155B-445C-A5CF-AD728976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8E0869-299E-4345-AD85-D35DEB62B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C616FE-DB80-4A3A-BE83-A1337A717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37D927-33A2-4B86-9ABF-5BC7BE34B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1BCED3-4D46-45F0-9954-3E0AC009C6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15F3D0-7997-422E-8747-585EF627CD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51BDEF-C7D2-40DC-A6CA-0FC8D1B1F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8F03D0-60B2-4AAF-8CAC-905958210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e3137481447bb" /><Relationship Type="http://schemas.openxmlformats.org/officeDocument/2006/relationships/slideLayout" Target="/ppt/slideLayouts/slideLayout1.xml" Id="R9b1978dcd0d64173" /><Relationship Type="http://schemas.openxmlformats.org/officeDocument/2006/relationships/slideLayout" Target="/ppt/slideLayouts/slideLayout2.xml" Id="Rcfb30fcc9ee94c51" /><Relationship Type="http://schemas.openxmlformats.org/officeDocument/2006/relationships/slideLayout" Target="/ppt/slideLayouts/slideLayout3.xml" Id="R5d210c74534a4e1a" /><Relationship Type="http://schemas.openxmlformats.org/officeDocument/2006/relationships/slideLayout" Target="/ppt/slideLayouts/slideLayout4.xml" Id="R42fd648d33cd43cd" /><Relationship Type="http://schemas.openxmlformats.org/officeDocument/2006/relationships/slideLayout" Target="/ppt/slideLayouts/slideLayout5.xml" Id="R7c1a7ebd08d74f86" /><Relationship Type="http://schemas.openxmlformats.org/officeDocument/2006/relationships/slideLayout" Target="/ppt/slideLayouts/slideLayout6.xml" Id="R7663185766ee4f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978dcd0d64173"/>
    <p:sldLayoutId xmlns:r="http://schemas.openxmlformats.org/officeDocument/2006/relationships" id="2147483650" r:id="Rcfb30fcc9ee94c51"/>
    <p:sldLayoutId xmlns:r="http://schemas.openxmlformats.org/officeDocument/2006/relationships" id="2147483651" r:id="R5d210c74534a4e1a"/>
    <p:sldLayoutId xmlns:r="http://schemas.openxmlformats.org/officeDocument/2006/relationships" id="2147483652" r:id="R42fd648d33cd43cd"/>
    <p:sldLayoutId xmlns:r="http://schemas.openxmlformats.org/officeDocument/2006/relationships" id="2147483653" r:id="R7c1a7ebd08d74f86"/>
    <p:sldLayoutId xmlns:r="http://schemas.openxmlformats.org/officeDocument/2006/relationships" id="2147483654" r:id="R7663185766ee4f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7cc5559ea4e41" /><Relationship Type="http://schemas.openxmlformats.org/officeDocument/2006/relationships/notesSlide" Target="/ppt/notesSlides/notesSlide1.xml" Id="R35238bf1af57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fc27e8a6b49d3" /><Relationship Type="http://schemas.openxmlformats.org/officeDocument/2006/relationships/notesSlide" Target="/ppt/notesSlides/notesSlide2.xml" Id="R44f77da167f8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bbc83974e4f1c" /><Relationship Type="http://schemas.openxmlformats.org/officeDocument/2006/relationships/notesSlide" Target="/ppt/notesSlides/notesSlide3.xml" Id="R2ef73a43d9aa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3c98191f04c04" /><Relationship Type="http://schemas.openxmlformats.org/officeDocument/2006/relationships/notesSlide" Target="/ppt/notesSlides/notesSlide4.xml" Id="R63f9ae4bbdb4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c197ff94a44f3" /><Relationship Type="http://schemas.openxmlformats.org/officeDocument/2006/relationships/notesSlide" Target="/ppt/notesSlides/notesSlide5.xml" Id="Rf862f3fb6a4841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3d1be55924087" /><Relationship Type="http://schemas.openxmlformats.org/officeDocument/2006/relationships/notesSlide" Target="/ppt/notesSlides/notesSlide6.xml" Id="R495287654e424b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11e4e21fc408f" /><Relationship Type="http://schemas.openxmlformats.org/officeDocument/2006/relationships/notesSlide" Target="/ppt/notesSlides/notesSlide7.xml" Id="Rf8c1636e847641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5fc65ab434b87" /><Relationship Type="http://schemas.openxmlformats.org/officeDocument/2006/relationships/notesSlide" Target="/ppt/notesSlides/notesSlide8.xml" Id="R447eb1ab0dd540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cb4337c284585" /><Relationship Type="http://schemas.openxmlformats.org/officeDocument/2006/relationships/notesSlide" Target="/ppt/notesSlides/notesSlide9.xml" Id="R7905f51653a5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4cfe304c94b1f" /><Relationship Type="http://schemas.openxmlformats.org/officeDocument/2006/relationships/chart" Target="/ppt/slides/charts/chart1.xml" Id="R7a8d73f306de48d4" /><Relationship Type="http://schemas.openxmlformats.org/officeDocument/2006/relationships/notesSlide" Target="/ppt/notesSlides/notesSlide10.xml" Id="Rf89c34c8a29e4b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9f2c177ff4bde" /><Relationship Type="http://schemas.openxmlformats.org/officeDocument/2006/relationships/chart" Target="/ppt/slides/charts/chart2.xml" Id="R8016dadc41f2430a" /><Relationship Type="http://schemas.openxmlformats.org/officeDocument/2006/relationships/notesSlide" Target="/ppt/notesSlides/notesSlide11.xml" Id="Re8a7829a13e24e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1e2d1ccca4f3e" /><Relationship Type="http://schemas.openxmlformats.org/officeDocument/2006/relationships/notesSlide" Target="/ppt/notesSlides/notesSlide12.xml" Id="R953ac4eec93c4f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cdbcff9b6484b" /><Relationship Type="http://schemas.openxmlformats.org/officeDocument/2006/relationships/notesSlide" Target="/ppt/notesSlides/notesSlide13.xml" Id="Rbdd4a419e8ba4c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b364763f6497e" /><Relationship Type="http://schemas.openxmlformats.org/officeDocument/2006/relationships/notesSlide" Target="/ppt/notesSlides/notesSlide14.xml" Id="R032bc8de145e40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e14b3a0ff4925" /><Relationship Type="http://schemas.openxmlformats.org/officeDocument/2006/relationships/notesSlide" Target="/ppt/notesSlides/notesSlide15.xml" Id="R4a0df341164f40d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Experiment</c:v>
          </c:tx>
          <c:spPr>
            <a:ln xmlns:a="http://schemas.openxmlformats.org/drawingml/2006/main" w="28575">
              <a:solidFill>
                <a:srgbClr val="579DCB"/>
              </a:solidFill>
            </a:ln>
          </c:spPr>
          <c:marker>
            <c:symbol val="circle"/>
            <c:size val="7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1.1</c:v>
              </c:pt>
              <c:pt idx="1">
                <c:v>1.6</c:v>
              </c:pt>
              <c:pt idx="2">
                <c:v>2.1</c:v>
              </c:pt>
              <c:pt idx="3">
                <c:v>2.7</c:v>
              </c:pt>
              <c:pt idx="4">
                <c:v>3.2</c:v>
              </c:pt>
            </c:numLit>
          </c:val>
        </c:ser>
        <c:ser>
          <c:idx val="1"/>
          <c:order val="1"/>
          <c:tx>
            <c:v>Theory</c:v>
          </c:tx>
          <c:spPr>
            <a:ln xmlns:a="http://schemas.openxmlformats.org/drawingml/2006/main" w="19050">
              <a:solidFill>
                <a:srgbClr val="E3001B"/>
              </a:solidFill>
            </a:ln>
          </c:spPr>
          <c:marker>
            <c:symbol val="none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1.7</c:v>
              </c:pt>
              <c:pt idx="2">
                <c:v>2.2</c:v>
              </c:pt>
              <c:pt idx="3">
                <c:v>2.6</c:v>
              </c:pt>
              <c:pt idx="4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Independent variable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Observable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3E0"/>
        </a:solidFill>
        <a:ln xmlns:a="http://schemas.openxmlformats.org/drawingml/2006/main" w="9525">
          <a:solidFill>
            <a:srgbClr val="080808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3E0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Experiment</c:v>
          </c:tx>
          <c:spPr>
            <a:ln xmlns:a="http://schemas.openxmlformats.org/drawingml/2006/main" w="28575">
              <a:solidFill>
                <a:srgbClr val="579DCB"/>
              </a:solidFill>
            </a:ln>
          </c:spPr>
          <c:marker>
            <c:symbol val="circle"/>
            <c:size val="7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1.1</c:v>
              </c:pt>
              <c:pt idx="1">
                <c:v>1.6</c:v>
              </c:pt>
              <c:pt idx="2">
                <c:v>2.1</c:v>
              </c:pt>
              <c:pt idx="3">
                <c:v>2.7</c:v>
              </c:pt>
              <c:pt idx="4">
                <c:v>3.2</c:v>
              </c:pt>
            </c:numLit>
          </c:val>
        </c:ser>
        <c:ser>
          <c:idx val="1"/>
          <c:order val="1"/>
          <c:tx>
            <c:v>Theory</c:v>
          </c:tx>
          <c:spPr>
            <a:ln xmlns:a="http://schemas.openxmlformats.org/drawingml/2006/main" w="19050">
              <a:solidFill>
                <a:srgbClr val="E3001B"/>
              </a:solidFill>
            </a:ln>
          </c:spPr>
          <c:marker>
            <c:symbol val="none"/>
          </c:marke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1.7</c:v>
              </c:pt>
              <c:pt idx="2">
                <c:v>2.2</c:v>
              </c:pt>
              <c:pt idx="3">
                <c:v>2.6</c:v>
              </c:pt>
              <c:pt idx="4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Independent variable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Observable /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3E0"/>
        </a:solidFill>
        <a:ln xmlns:a="http://schemas.openxmlformats.org/drawingml/2006/main" w="9525">
          <a:solidFill>
            <a:srgbClr val="080808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3E0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94764-A520-4453-960D-F67D1836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25FBC-75F0-419A-A973-03ABC5F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FBCB0-7106-4B8F-879A-BA8FC38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34373-47B2-42EA-A3F8-1046748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09675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4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10. Magnetic Gear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7DFC9-01AA-401F-8CA1-A8325E14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619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230"/>
          </a:bodyPr>
          <a:lstStyle xmlns:a="http://schemas.openxmlformats.org/drawingml/2006/main">
            <a:defPPr algn="l">
              <a:defRPr sz="21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Team name | Presenter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BD741-5848-47CB-A7EC-4D4656A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199B-2717-44AE-82FC-76CC757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048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76"/>
          </a:bodyPr>
          <a:lstStyle xmlns:a="http://schemas.openxmlformats.org/drawingml/2006/main">
            <a:def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identical fidget spinners and attach neodymium magnets to their ends. If you place them side by side on a plane and rotate one of them, the remaining ones start to rotate only due to the magnetic field. Investigate and explain the phenomenon.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B389D-2AAA-423D-967B-A1AB053F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73556-A96D-4BEF-AFA5-3B4DAF5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0A6E5-F8BC-4788-91BC-E37543A3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40481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34A5C-EEF9-475F-BABE-61101D2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76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E5458-2893-40A6-8439-06B1BFE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4830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420E5-276B-471C-BF94-4324461C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7DB18-C29A-4C16-8245-DD3962A4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72200" y="33242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CF3CC-4B2F-4DE8-B0CE-4F802E61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2A0EE-A74F-46CB-A597-91C79F5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32EFF-D512-41F9-9301-E7DC3082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FC0B2-4922-4B39-9520-DA9C748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4CD10-4E11-44A7-A9B1-FA23B27D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40481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77DE2-1E6B-43C4-90EC-02A15D8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1E191-8A97-408C-B02E-DD572B4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91350" y="4048125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9F3A1-0E85-42CE-BCB7-6B67987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52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B6050-B98B-45CB-8150-BF4883A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15250" y="3324225"/>
            <a:ext cx="9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7EBCC-CE06-493A-9EDE-8F5A1E40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6481F-8A06-4449-9DBA-21F069C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7007E-E0BD-4E0C-BF92-0B317AD6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771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688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657E0-010E-432D-8217-FF47853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3EAAB-3CD2-4377-AB9F-899C325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34DF-A88E-4837-BD87-716C72D7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63E68-0205-4A15-B392-03679F6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8458-245A-4EF3-BC2B-3214AAC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327"/>
          </a:bodyPr>
          <a:lstStyle xmlns:a="http://schemas.openxmlformats.org/drawingml/2006/main">
            <a:def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identical fidget spinners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attach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neodymium magnets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to their ends. If you place them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side by side on a plane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rotate one of them, the 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remaining ones start to rotate</a:t>
            </a:r>
            <a:r>
              <a:rPr sz="20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only due to the magnetic field. Investigate and explain the phenomenon.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27BE7-2FDC-4BC7-8D96-ABE9F9C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3811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C48FB-7E4F-40D8-8BCF-96967EB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04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C4F50-E69F-40B6-8A0A-776FBA4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3A86-B106-4776-B204-36C472ED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FCC57-4856-45BF-81B7-320EF41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403860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F53A6-2CA1-4EA7-9904-B2F8204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95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C01D9-92FF-4790-B23D-F8D7E88A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0987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199B3-9775-4CE6-B0A9-63A82D3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85F89-F15B-4B74-96DF-1CB7F24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62325" y="348615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36292-4544-4887-AF75-C82F008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79300-8E96-4877-958D-F742D91B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A2DF7-2650-4792-9E4A-766A370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2F8D6-ABCD-4B1D-BCA7-4EEDFBC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A48D3-B892-4A43-8B3B-2AC6190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403860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53C32-60BE-45AC-86FD-D7DE653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95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4961D-5BD9-4836-AB20-15200198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62525" y="403860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06FDA-2274-45FE-8E81-0D47F6A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42266-EB5D-4B22-AE52-43BC7CFB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14975" y="3486150"/>
            <a:ext cx="9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84B4E-734F-4BC5-98E5-1137FEF2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B13E8-BFC6-4CA9-82BB-7B05865B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0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693138-32C9-4466-96B5-EFA46B8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10025" y="4038600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A16B4-FAC4-43C3-A285-6FE290AE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F3A4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BD22E-D686-4E35-88A5-096E3EEF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Spinner parameters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7D281-F9FC-4D68-A466-DCA870F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28975"/>
            <a:ext cx="1962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Number of arms</a:t>
            </a:r>
          </a:p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Magnet arrangement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AA0EAD-E7FE-4AAE-B2C9-27749EBF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579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58BD0-9E16-4B00-A243-869ACFB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Magnet parameters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25368-AC59-4279-B34A-458A54D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1962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Orientation</a:t>
            </a:r>
          </a:p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Magnetization</a:t>
            </a:r>
          </a:p>
        </p:txBody>
      </p:sp>
    </p:spTree>
    <p:extLst>
      <p:ext uri="{BB962C8B-B14F-4D97-AF65-F5344CB8AC3E}">
        <p14:creationId xmlns:p14="http://schemas.microsoft.com/office/powerpoint/2010/main" val="320461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803EF7-8848-4496-9129-87CA24E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8F311-0A05-4FF2-9147-327F345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D54A2-7897-4433-947E-A2868D87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B089E-A32D-42A8-A4FF-6B191929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D489F-183C-4209-BDD9-4A0A9CF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810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identical fidget spinners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attach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neodymium magnets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to their ends. If you place them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side by side on a plane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and rotate one of them, the 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remaining ones start to rotate</a:t>
            </a: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 only due to the magnetic field. Investigate and explain the phenomenon.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EFD3A-55DE-41EB-B5F2-2CC8FE0B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581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7FEC2-197A-402E-A38D-21183D2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786E3-3181-4AA3-8519-08F514A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95700"/>
            <a:ext cx="2686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7030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1E16E-D2A8-497A-AF08-6C26716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94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636"/>
          </a:bodyPr>
          <a:lstStyle xmlns:a="http://schemas.openxmlformats.org/drawingml/2006/main">
            <a:defPPr algn="ctr">
              <a:defRPr sz="1650" b="0" i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7030A0"/>
                </a:solidFill>
                <a:latin typeface="Arial"/>
                <a:ea typeface="Arial"/>
                <a:cs typeface="Arial"/>
              </a:rPr>
              <a:t>Spinner positions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6B763-A63D-46BA-BB73-51987EAC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338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Distance between spinners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Number of spinners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Arrangement of spinners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F1831-A8BA-41C5-BD96-B9D31494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24500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57C7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D35F0-B2ED-44A3-9018-1CBBA16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91150"/>
            <a:ext cx="192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636"/>
          </a:bodyPr>
          <a:lstStyle xmlns:a="http://schemas.openxmlformats.org/drawingml/2006/main">
            <a:defPPr algn="ctr">
              <a:defRPr sz="1650" b="0" i="1">
                <a:solidFill>
                  <a:srgbClr val="57C7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57C782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57C782"/>
                </a:solidFill>
                <a:latin typeface="Arial"/>
                <a:ea typeface="Arial"/>
                <a:cs typeface="Arial"/>
              </a:rPr>
              <a:t>Initial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F2795-1059-4379-94FD-4EB0B7F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38825"/>
            <a:ext cx="2333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angular positions</a:t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angular velocities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392C-A81F-4E80-9396-F309F76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9975"/>
            <a:ext cx="2438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F3A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0BB58-A448-4A99-96DE-591CE79B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 i="1">
                <a:solidFill>
                  <a:srgbClr val="F3A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F3A447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F3A447"/>
                </a:solidFill>
                <a:latin typeface="Arial"/>
                <a:ea typeface="Arial"/>
                <a:cs typeface="Arial"/>
              </a:rPr>
              <a:t>Spinner parameters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8AFC6-7FBE-4BCE-86B8-044983C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DA7C2-0302-49D5-87D2-6484889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507B1-CD36-4237-A3CC-C3EC482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0025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>
            <a:defPPr algn="l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Number of arms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F2335-58C1-4A1F-9207-D50862AE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2228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28575">
            <a:solidFill>
              <a:srgbClr val="579D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BD0A6-8657-40F9-843E-DB8512E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 i="1">
                <a:solidFill>
                  <a:srgbClr val="579D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579DCB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579DCB"/>
                </a:solidFill>
                <a:latin typeface="Arial"/>
                <a:ea typeface="Arial"/>
                <a:cs typeface="Arial"/>
              </a:rPr>
              <a:t>Magnet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D7A51-AE48-4583-88A3-60076F6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800F-7E6E-4748-A90A-2495A157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29964-85CD-476A-B2F9-0D0F6009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72050"/>
            <a:ext cx="1095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15"/>
          </a:bodyPr>
          <a:lstStyle xmlns:a="http://schemas.openxmlformats.org/drawingml/2006/main">
            <a:def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Orientation of</a:t>
            </a:r>
          </a:p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magnets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1F520-41AB-4BCE-847B-61E6DA6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5962650"/>
            <a:ext cx="211610" cy="56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9A242-0E5A-402F-B110-B4D03877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985" y="592410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C9393-8D14-48C6-806D-6B5D5A8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48924" y="5962650"/>
            <a:ext cx="56701" cy="211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DD914-39EF-4B75-B720-22D75C2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74" y="607901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7648D-D6B0-4EE9-AF62-DAD8432E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4015" y="5905949"/>
            <a:ext cx="211610" cy="56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3C70E-8330-4C38-98D7-681A5B58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765" y="581069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8B367-617E-44FD-B479-DE3C9E99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05625" y="5751040"/>
            <a:ext cx="56701" cy="211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D0175-AF8D-4E7B-96FE-3C466A9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076" y="565579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4F611-FFC0-42CD-9C32-75C0AEB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34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6EC56-D609-4F52-8D1E-0B69BD0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81675"/>
            <a:ext cx="1123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479"/>
          </a:bodyPr>
          <a:lstStyle xmlns:a="http://schemas.openxmlformats.org/drawingml/2006/main">
            <a:def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Magnetization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558AB-6097-49E1-91D8-441513C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52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43DDF6-AD85-4B68-B9A8-796D7A6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29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718833-64EC-4338-8FE8-A34EA0F6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14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3B738-0C4A-42A6-A9A0-1A8F7C9B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29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E7C357-FDAA-423E-973C-A812CB9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038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3C59D-7F05-402B-A8A0-4ECCEF18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F5CF7A-7BAD-416C-B4CE-78486F0E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715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726992-4ACD-4AEF-AD79-210A9D1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48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F51C24-8819-45A4-892D-7D15084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648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45FA85-A497-4B7A-ADB6-15A6416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81450" y="3276600"/>
            <a:ext cx="361950" cy="657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D24E11-0299-4972-9A10-1722F8C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43400" y="3752850"/>
            <a:ext cx="68580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5BCCA5-CE6A-480B-BBB9-F5A0E7A4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81450" y="3933825"/>
            <a:ext cx="36195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89C7D4-BC29-4024-8C1E-EB7876B2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95625" y="4752975"/>
            <a:ext cx="38100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18C8FA-4847-414E-B825-ED98C1F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25" y="5162550"/>
            <a:ext cx="6762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5958D-AD0D-4096-B017-357212E1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05150" y="5429250"/>
            <a:ext cx="37147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5A6AB-9CC5-4E61-BFA5-F2BE8EA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52900" y="5162550"/>
            <a:ext cx="41910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9A7C26-F436-4E83-97FF-13D017E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0" y="4810125"/>
            <a:ext cx="4667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3BBB09-E351-4DD6-9715-1D636ED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62425" y="5762625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F1DDA0-225F-4C35-818C-24BEEBD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38725" y="4810125"/>
            <a:ext cx="4572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ED87FB-597D-4863-9F54-A4B5316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95925" y="5448300"/>
            <a:ext cx="4667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3621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E6CE2-DABF-4359-8940-588C1AD8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E0773-AB9E-41C0-B62C-449000E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2487C-304C-4DB9-8F8E-E13486E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0C95-26C5-43B8-AA62-24B60A9C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9666F-C3D9-4DD2-AF70-23274CF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A76C0-E497-42CC-B9A7-586D531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049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2585C-2637-4917-9AA3-40D527A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8402-05E5-44ED-8964-E4441E48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955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Quantitative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9237C-C3B5-452E-8C07-A2631BB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D826E-CDDB-419A-8E09-143714CB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98C4F-CD0C-41BE-A1B2-5F7A911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660F7-3C7B-4724-8097-2010670B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Small oscillations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84E69-BE5C-47A2-9E8B-3F13EC40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58BDE-44DF-4FFB-819A-BA3B8ED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385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BAC64-C100-4EDC-879F-4430722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BCD92-6B47-44F7-A755-74FA541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Velocity ratios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09250-6B2E-45A2-B0FB-310CAA1F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57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24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A5582-4839-47DF-AEA1-3E4A20F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E195C-D23E-4CF4-A0E1-B604E182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481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07BA7-1C32-46AB-A1EC-1013032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Further insights, summary</a:t>
            </a:r>
          </a:p>
        </p:txBody>
      </p:sp>
    </p:spTree>
    <p:extLst>
      <p:ext uri="{BB962C8B-B14F-4D97-AF65-F5344CB8AC3E}">
        <p14:creationId xmlns:p14="http://schemas.microsoft.com/office/powerpoint/2010/main" val="1343071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76866-BBD8-4027-B58E-C9204D3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9B694-839E-47F7-A309-013D028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92A55-F4D6-468C-99FB-D4D503D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FF282-AA39-4890-BEE8-2D8804AB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2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7026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A47C87-F8BD-49C7-9489-4BA825A9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0F954-E692-4CF7-8FBD-7B4D634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8EC4F-4E1B-4758-8F4F-4A5C1F1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EE48C-8E4A-4502-AD83-8D57B69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Current Cylinder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FB161-9E18-4B3C-B449-726D30E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54A46-2398-4F41-9E6B-1167A85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48FF5-7627-4B2C-8818-2DB420B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F2059-B1FA-4AB3-9AD1-7F72651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211CD-5619-470E-BD8D-12D5344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6D356-D20C-4895-9AA1-666F238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5272-0F5C-4C48-BA36-141EC55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5D344-33E0-4771-896C-B9A5650D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25E3B-E2D3-4BA0-BEAA-231309F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1113012" cy="156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A0ABA-7208-45DA-8559-93A7502E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562" y="348064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9A99E-978F-41A0-ABEE-B61F8A5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885685" cy="691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D6ED4-C293-412E-A6B8-963A5CB3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235" y="401619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7BC2E-4206-48DC-8B9E-9E13966C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90800" y="3419475"/>
            <a:ext cx="421039" cy="1042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B4CBD-AD5D-4751-B656-61B31C3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89" y="43663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E0AA4-3EF0-42A0-A58E-E617FC2F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34376" y="3419475"/>
            <a:ext cx="156424" cy="1113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0C626-3DA5-43FB-9391-2F0F6AEE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126" y="443723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ABA84-70B0-42CD-8E10-DE13714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98827" y="3419475"/>
            <a:ext cx="691973" cy="885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8A162-E295-46F0-9211-CDB1E84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577" y="420991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F2F40-A52E-4ABB-B672-104FD94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48692" y="3419475"/>
            <a:ext cx="1042108" cy="4210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D2793-5932-4C28-8538-74819F4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442" y="3745264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C3BE9-D5B1-46DD-B704-451F02B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7788" y="3263051"/>
            <a:ext cx="1113012" cy="1564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BE004-393D-4FF7-8F00-A39900E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538" y="3167801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B65AE-FF3A-42E4-91C3-7F2FD491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05115" y="2727502"/>
            <a:ext cx="885685" cy="691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05E1C-2BE5-47CD-A0F5-A5B9702C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865" y="2632252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1726C-E1A7-459E-9375-C8DE08B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69761" y="2377367"/>
            <a:ext cx="421039" cy="1042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11E81-0D5F-4D5E-A6FC-9507EC9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11" y="228211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4C549-D817-4C24-966F-A90D744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306463"/>
            <a:ext cx="156424" cy="1113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74F5F-5EAC-446D-954C-1C8E13E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74" y="221121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9BFA9A-710E-43DB-94E4-A697727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533790"/>
            <a:ext cx="691973" cy="885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8CDB0-56A6-4607-A579-B5B2FA33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523" y="243854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02E1C-A386-4FB3-9684-3AA314E5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2998436"/>
            <a:ext cx="1042108" cy="4210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3D794-DCB3-4899-B7B1-03ACD46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58" y="2903186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B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6EE89-B696-47ED-8F1B-6AAF07A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90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A4BF9-38FF-4DD6-84CA-18E5D375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295525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4D6"/>
          </a:solidFill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123F2F-FAAD-4E25-82F6-8BB06C99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24175"/>
            <a:ext cx="66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5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50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766435-4062-4BCD-A2CE-7783F8C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81575"/>
            <a:ext cx="2333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EACA0-55AA-4B15-AA4F-BE9DA2BC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91100"/>
            <a:ext cx="2257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Model assumption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759BB-965D-4E9D-B584-D7BA448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6252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Replace this diagram and statement with the model used in the new problem.</a:t>
            </a:r>
          </a:p>
        </p:txBody>
      </p:sp>
    </p:spTree>
    <p:extLst>
      <p:ext uri="{BB962C8B-B14F-4D97-AF65-F5344CB8AC3E}">
        <p14:creationId xmlns:p14="http://schemas.microsoft.com/office/powerpoint/2010/main" val="26477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F0B99C-BB25-4745-B614-4A581B1D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AF79B-DA35-4383-9D53-D34C4D3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1CE95-D049-44F1-9A13-CF134F2E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F49C-E84B-43C1-9580-9523B25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Characterization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C373C-5D1B-4AF5-9F2A-171A43D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789C-2EEA-401B-BF6E-CFE27D15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4D3BB-3F44-42B9-A54C-D99A191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CCDEE-7251-4CB9-B680-842D8E44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BFD41-9798-4967-A7E1-7B0DC9D0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B015F-912F-4B44-BBD6-F631D34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E11EA-B40C-4FA7-880D-47864BD9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2EC6E-81AC-4A74-9A74-C0850BF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45B8E-47FC-4BCD-8BD7-5149A70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20097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C6E97-60BB-4F96-897E-7CFB318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00263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1"/>
          </a:bodyPr>
          <a:lstStyle xmlns:a="http://schemas.openxmlformats.org/drawingml/2006/main">
            <a:def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Insert apparatus photo</a:t>
            </a:r>
          </a:p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(replace this placeholder)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1F4B1-4968-4A42-9CEE-264756E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DD120-3AA9-4E9D-B7AC-89040DC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6E7EC-71A7-4F8B-8238-79805333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Moment of inertia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D82BD-4B87-4696-907B-313E7F7A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20097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E25F9-BC19-42CE-B962-921D37A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00263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1"/>
          </a:bodyPr>
          <a:lstStyle xmlns:a="http://schemas.openxmlformats.org/drawingml/2006/main">
            <a:def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Insert apparatus photo</a:t>
            </a:r>
          </a:p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(replace this placeholder)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EADBE-5046-4CFF-9373-07FAAA78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50327-BAE4-464F-B72D-23184726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5B370-4780-4ACC-9B2C-C60F061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Air drag &amp; friction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2826C-35B9-405F-80C2-F7ADA552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00200"/>
            <a:ext cx="20097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F343E-8B7F-43B8-A3F4-82DC0B5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00263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331"/>
          </a:bodyPr>
          <a:lstStyle xmlns:a="http://schemas.openxmlformats.org/drawingml/2006/main">
            <a:def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Insert apparatus photo</a:t>
            </a:r>
          </a:p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(replace this placeholder)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9DCC4-C25C-4A3F-A8F1-B62783A3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81150"/>
            <a:ext cx="2009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73668-5F5E-4B4D-AD4F-5AA02141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2105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499BF-5DB0-4ACA-8998-C3B6C14F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670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Magnetization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257EF-8C34-4223-A28F-2E8659E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1000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82C96-6CD5-43E0-97AA-20D23FA3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1000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AD9B6-111A-45C2-9B53-5DFDE20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1000" y="4925187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CD17C-E91D-4A90-B6E2-49E24F5F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3915" y="4692015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991CD1-9B80-47D6-B74F-F9DAC56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6830" y="4458843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1EB2C-A3D5-4AB7-91C2-81ED27E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69745" y="4225671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FCD39-AFBC-4B10-8A0F-8222A36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32660" y="3992499"/>
            <a:ext cx="462915" cy="233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6B5055-A791-414B-9289-773F7BE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19475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E5FF0-4D11-4F5A-AB08-26880936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19475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7DC4E2-8FA5-479E-BD4F-162AA8E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19475" y="4769739"/>
            <a:ext cx="462915" cy="440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2D3F77-8C96-4B8C-9488-C6497BD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82390" y="4445889"/>
            <a:ext cx="46291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8D028-5F49-44CF-B3DD-FE03EEDA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45305" y="4225671"/>
            <a:ext cx="462915" cy="220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F885C5-BDC2-48A4-8D79-0221520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8220" y="4057269"/>
            <a:ext cx="462915" cy="168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B12A7-EE67-4F88-8EC7-8438F21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71135" y="3953637"/>
            <a:ext cx="462915" cy="103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E6965-4B66-492E-8271-454D981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5210175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907266-1CF4-4F99-9902-79C3D38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3914775"/>
            <a:ext cx="95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EE1396-4ACC-40E9-B22E-3D6C8D4F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57950" y="3927729"/>
            <a:ext cx="46291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FF7CE4-5D74-4BCB-9A49-96B36BB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20865" y="4575429"/>
            <a:ext cx="46291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C32C89-68B3-4710-A0E2-1B6DB2C0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3780" y="4899279"/>
            <a:ext cx="462915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3D59A-0006-4077-BB86-6B58879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46695" y="5054727"/>
            <a:ext cx="462915" cy="9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164BF5-7261-4C59-AEDA-01645FFA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09610" y="5145405"/>
            <a:ext cx="462915" cy="5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001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392D11-103B-41E7-8DA9-5E78A2BF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911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75A75D-1121-4259-B2AB-2E822D5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006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0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 = [value] kg m²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2D57A8-CCA4-43AB-BFDC-18CCAD7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91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C783F3-69B5-4BCE-A665-788F88C8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cdrag = [value] kg m² s⁻¹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41C662-3549-4844-9903-1E56DA73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911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097521-F38F-430E-AA0C-9C680963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006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 = [value ± uncertainty] A/m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ED7155-491C-4843-820F-DEE1FEB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912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0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Schematic plots — replace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D95612-E7E7-40E2-9919-4C61FC1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721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AD7C9C-7C68-47E8-AAFE-97FA3C7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816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050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τfriction = [value] N m</a:t>
            </a:r>
          </a:p>
        </p:txBody>
      </p:sp>
    </p:spTree>
    <p:extLst>
      <p:ext uri="{BB962C8B-B14F-4D97-AF65-F5344CB8AC3E}">
        <p14:creationId xmlns:p14="http://schemas.microsoft.com/office/powerpoint/2010/main" val="856597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6A680F-62E4-4CCF-8262-31959548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B6E9F-EDD3-460C-BC16-4A26FC1A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D89E5-318B-4662-99A5-7485482B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935FF-1E20-4C9E-BAEB-266560E5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Small oscillations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DC6A-9502-45F3-A898-21EF2DE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0093-E279-4828-9BD2-3BCE3FDD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32E5-9AD7-4E3D-B8B1-B84406E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F5CA-B07B-4BD5-A8D9-EA61B294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2DC2A-CCE7-48F9-BB0D-078B993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381F8-02B9-4ADF-8CA4-76C44C9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1E1A6-6477-44E3-9E2D-AC4084E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5599E-CE2D-4342-BA0A-55646D2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4ACCE-B201-4267-BC45-A0C5558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m₁, m₂ – Magnetic dipole moment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AF1D9-5042-463D-9D0A-65F32C5F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86125" y="2743200"/>
            <a:ext cx="603257" cy="1392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DDC7C-9130-40F6-86D3-3181B810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32" y="27872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0CD55-078E-4EAF-860E-FA03334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63883" y="2743200"/>
            <a:ext cx="422242" cy="452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D493E-EDDA-4337-B994-F93C488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33" y="3100749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9CA24-AA59-4234-B085-345871C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05110" y="2151128"/>
            <a:ext cx="181015" cy="592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E57BD-A38B-46D4-BACA-78BFB03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860" y="2055878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E626F-2E56-40F9-AF11-6A8D722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869-2B47-492D-9F6C-047A96E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15075" y="2743200"/>
            <a:ext cx="467260" cy="406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17894-B5D2-42FF-908A-875C2A3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085" y="30541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4DFAC-79E8-4F22-9710-3F4AD21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29681" y="2743200"/>
            <a:ext cx="585394" cy="201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DA3FA-08E6-46D8-8E82-A2B989AB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431" y="2849517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2A51D-5368-4937-B6C6-18A0631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15075" y="2135450"/>
            <a:ext cx="118135" cy="60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ECA7D-7DA3-4FAC-A0B3-705E1F4A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960" y="2040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DEFEE-AB69-44E7-AA38-8F41F0D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2A5FF-F828-4CBB-8BA2-CDCC0E42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478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C492D-457E-4807-A56F-2A8B7859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05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BF2DCD-C248-4E64-B56A-98323CCC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3819525"/>
            <a:ext cx="29622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C2319-429F-4A41-BF51-8D7A9566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290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ctr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EE057-6A26-4C0F-8E7F-9A91A110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>
            <a:def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Dipole approximation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D00AF-0827-48D2-A4D1-3772B3B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386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>
            <a:def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Linearized equations of motion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9BC232-163F-4C96-8533-3A056D8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625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86"/>
          </a:bodyPr>
          <a:lstStyle xmlns:a="http://schemas.openxmlformats.org/drawingml/2006/main">
            <a:defPPr algn="ctr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Fmag(d) = 3 μ₀m₁m₂ / (4πd⁴)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20E4E7-07A7-4C86-8B09-8B1FF0A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29175"/>
            <a:ext cx="7334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62"/>
          </a:bodyPr>
          <a:lstStyle xmlns:a="http://schemas.openxmlformats.org/drawingml/2006/main">
            <a:defPPr algn="ctr">
              <a:defRPr sz="29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1E67FD-BDD3-4671-91FF-0E98E48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9582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Iθ̈₁ = K[(R − d₀)θ₁ + Rθ₂]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147B82-E98F-4EEE-B50D-8056E6C0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3397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Iθ̈₂ = K[Rθ₁ + (R − d₀)θ₂]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07E1FD-DAE0-4F9D-8E71-6DC7BD0F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5307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K = 3 μ₀m₁m₂R / [4π(d₀ − 2R)⁵]</a:t>
            </a:r>
          </a:p>
        </p:txBody>
      </p:sp>
    </p:spTree>
    <p:extLst>
      <p:ext uri="{BB962C8B-B14F-4D97-AF65-F5344CB8AC3E}">
        <p14:creationId xmlns:p14="http://schemas.microsoft.com/office/powerpoint/2010/main" val="766458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0FAEBA-EFB9-48E6-83DA-06BACF6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8707-023B-4987-815C-1D90E25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FC47B-8D3F-4650-BF54-A2EC46E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D9D1-0D1E-434A-A98B-4B8D0DE4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Experimental Set-up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F3098-A35B-4C0E-BEFA-7C8B37AA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C4BEC-7C5D-46D9-BEAA-0BEF3B6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C5929-C912-46B0-84C1-8789811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AEF95-FDCA-4BBC-9E19-ADD42D78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33C92-78EB-4CA8-B018-65B25CD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C9036-551D-4A43-8E02-239E1209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A8DBD-2F08-4676-BD4C-195BABBF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8C344-A53D-4EBC-8586-31E6529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F5F25-5764-4F17-A29E-93A2E08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50958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01DF7-13EE-453E-8B57-B105683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4943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Insert apparatus photo</a:t>
            </a:r>
          </a:p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(replace this placeholder)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9BC49-5A56-4C74-86BF-C612653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509587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08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F053D-4C48-48C7-8D4F-0FDB98A0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14675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9751C-C531-4A04-8DED-70F0DC50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753"/>
          </a:bodyPr>
          <a:lstStyle xmlns:a="http://schemas.openxmlformats.org/drawingml/2006/main">
            <a:def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Insert apparatus photo</a:t>
            </a:r>
          </a:p>
          <a:p xmlns:a="http://schemas.openxmlformats.org/drawingml/2006/main">
            <a:pPr algn="ctr">
              <a:defRPr sz="135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(replace this placeholder)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C4464-851D-4439-B4FB-F2C9AEBA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76575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AA7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33163-3A16-4F00-B8B2-4313A9B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6687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356CF-FCDD-42DC-9080-A04F8669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3D printed</a:t>
            </a:r>
          </a:p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fidget spinners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68D48-F5C0-4DD0-AF2B-4BC0ADF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57350"/>
            <a:ext cx="2486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4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7B2D7-3023-4D0C-B9D5-8076873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2114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735"/>
          </a:bodyPr>
          <a:lstStyle xmlns:a="http://schemas.openxmlformats.org/drawingml/2006/main">
            <a:def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Non-magnetic</a:t>
            </a:r>
          </a:p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ceramic bearings to</a:t>
            </a:r>
          </a:p>
          <a:p xmlns:a="http://schemas.openxmlformats.org/drawingml/2006/main">
            <a:pPr algn="ctr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reduce friction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56C29-9885-4293-955F-0B409AE9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53100" y="3238500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07050-C47E-4CCD-9BAC-27ADB2D7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0533" y="3278717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666CA-AB19-49F9-B519-2BAFB7B0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67967" y="3318933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0D76C-0C03-4927-9D0A-0B318DE8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75400" y="3359150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F5E95-308B-432F-99A4-FD66A8A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82833" y="3399367"/>
            <a:ext cx="103717" cy="20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C2D43-E1DC-4D10-A30F-56E01ED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53100" y="4455583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00DC6-42DD-4478-9C9E-C640410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0533" y="4432300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30FB41-C546-4061-9AC4-60DCC26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67967" y="4409017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06730-9265-417B-B303-9E1CB20E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75400" y="4385733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6EE786-81DC-4FCC-B3F5-71E41DB6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2833" y="4362450"/>
            <a:ext cx="103717" cy="11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25932-BFE7-4617-B7E7-6C4C5F1B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9592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CF8D47-28DA-441A-8491-2AE829E2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054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D19EE1-49BB-471C-AB05-A072A1AA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340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>
            <a:defPPr algn="l">
              <a:defRPr sz="15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Two bearings for each spinner</a:t>
            </a:r>
          </a:p>
          <a:p xmlns:a="http://schemas.openxmlformats.org/drawingml/2006/main">
            <a:pPr algn="l">
              <a:defRPr sz="150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to prevent wobbling</a:t>
            </a:r>
          </a:p>
        </p:txBody>
      </p:sp>
    </p:spTree>
    <p:extLst>
      <p:ext uri="{BB962C8B-B14F-4D97-AF65-F5344CB8AC3E}">
        <p14:creationId xmlns:p14="http://schemas.microsoft.com/office/powerpoint/2010/main" val="2009005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FBCA4-1832-4528-9C7D-06D49E2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14C03-91FD-4866-9DE3-5EA0A76D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8E065-ED63-4FFA-8A61-58B1766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2A7C3-98A2-4C56-8C1E-A275BE5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Graph and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E0B3F-B001-495A-A5F0-0A395DAF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A822-9C72-47E8-ABD7-BEA8A6E4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927F8-5CCB-4C51-82C2-1421415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146B4-1368-480A-8D22-7E4F043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BE9A1-A60D-49A8-B4FC-6DF5D46E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25EE6-8448-4F1E-A592-21F0D78D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665BD-1D41-46ED-9437-790C965F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93FAA-4CCC-4F4D-975A-FB229826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EBA80E38-058B-4199-B5A7-8117029C9EB9}"/>
              </a:ext>
            </a:extLst>
          </p:cNvPr>
          <p:cNvGraphicFramePr/>
          <p:nvPr/>
        </p:nvGraphicFramePr>
        <p:xfrm>
          <a:off xmlns:a="http://schemas.openxmlformats.org/drawingml/2006/main" x="866775" y="1628775"/>
          <a:ext xmlns:a="http://schemas.openxmlformats.org/drawingml/2006/main" cx="7429500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8d73f306de48d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F4F3B-228C-4E13-B227-31E8BAF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DATA — replace values, labels and units</a:t>
            </a:r>
          </a:p>
        </p:txBody>
      </p:sp>
    </p:spTree>
    <p:extLst>
      <p:ext uri="{BB962C8B-B14F-4D97-AF65-F5344CB8AC3E}">
        <p14:creationId xmlns:p14="http://schemas.microsoft.com/office/powerpoint/2010/main" val="1795199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D8147-06E4-4667-BA63-878749B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2BEDA-5BB2-4B7C-BDE7-B509FB5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9E1AF-B855-45B3-BD5D-7508392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47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DF926-8CDA-4A4A-B47D-56AB6B5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Graph with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2BF37-E02D-4255-B4C8-B39A562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A3B27-5A05-4E5F-95A0-34BCFBD9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57994-0817-4331-98C1-A3FEA0D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C6984-D8C2-409B-8B3A-375D56B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2EF4D-6039-486D-912C-2A69396A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314FE-3B58-4123-A120-D97FCDE3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12B11-6061-4839-9767-23E0841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847C2-4254-49AE-8CB3-D82A07F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1FD615C8-123B-4745-B291-74D91E7E802C}"/>
              </a:ext>
            </a:extLst>
          </p:cNvPr>
          <p:cNvGraphicFramePr/>
          <p:nvPr/>
        </p:nvGraphicFramePr>
        <p:xfrm>
          <a:off xmlns:a="http://schemas.openxmlformats.org/drawingml/2006/main" x="866775" y="1628775"/>
          <a:ext xmlns:a="http://schemas.openxmlformats.org/drawingml/2006/main" cx="7429500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16dadc41f2430a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300D8-4D58-429B-A232-4A5800F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ILLUSTRATIVE DATA — replace values, labels and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F9108-4180-4FED-8CE8-E59B1D80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52775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D49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717FC-4FA9-4F99-B84D-1F0CD8D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7905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the supported conclusion here</a:t>
            </a:r>
          </a:p>
        </p:txBody>
      </p:sp>
    </p:spTree>
    <p:extLst>
      <p:ext uri="{BB962C8B-B14F-4D97-AF65-F5344CB8AC3E}">
        <p14:creationId xmlns:p14="http://schemas.microsoft.com/office/powerpoint/2010/main" val="1266703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C64A4-4CE0-4985-B996-B072E420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E86A4-01F6-48ED-985F-4FD54C67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3355A-0931-4775-926E-6EF092C5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33D65-4A64-4A7A-8FDC-568BEA9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Theory and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0EF1-C424-496F-8A63-9D432AB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9372F-695A-4002-8A8D-FE65301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F4B94-BA50-44D7-8ADA-40F19BDC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A9DA-4F84-4EBF-8BEC-DFBAC30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DB6D0-FECC-439F-950D-430A1AB0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FA10E-303F-4048-8116-F6E4468A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0ABB3-162F-4B99-875B-07FBDDA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5880D-E293-42BA-8851-7F9F3DF1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CE0AF-E675-4A07-8CDD-952CA224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6850"/>
            <a:ext cx="3733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9666C-2428-4D6C-8617-77E572F9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76375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AD151-B741-4B9E-B8CF-0AFD0DC7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37338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F2059-A124-4098-BA98-8065C71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76375"/>
            <a:ext cx="365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A8C91-A9DF-462D-B613-AA76BD80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71675"/>
            <a:ext cx="3733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88B4E-6E3B-40F7-BD52-D2B15B4C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37338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0"/>
          </a:solidFill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301CA-84EE-4ECA-BDD4-35F80FE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28950"/>
            <a:ext cx="3048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Insert measured graph, photo or video still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AE745-B192-4990-9D5A-3ED6D19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29432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Insert model prediction or mechanism diagram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9B0D6-071A-494A-95AB-DE2DC234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572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State the agreement and the disagreement, including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285677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41F01-D123-4EE5-854F-6845EC7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EEA44-91A6-4CB7-94A1-1D0FEE4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93491-B9B2-4304-B047-B44C087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461D-01C3-46B0-A4BA-F1D0C867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C4FBF-E787-4F7A-A9E0-F2A7A767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0A833-E0BB-4A40-9015-555DB79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2ED3D-9DFD-4B0B-9531-5D1312A7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Free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A7B3A-83E0-4D4E-A21B-E6840CED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556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C6637-F264-4B8C-B35F-B9706B2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A8A49B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A8A49B"/>
                </a:solidFill>
                <a:latin typeface="Arial"/>
                <a:ea typeface="Arial"/>
                <a:cs typeface="Arial"/>
              </a:rPr>
              <a:t>Driven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3BD27-A03E-4137-800D-6C136E5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13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4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3FF2C-F343-489D-A30A-87B113AB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162675"/>
            <a:ext cx="19073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>
            <a:def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C4F87-56B3-44B7-A291-9296D94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669" y="6534150"/>
            <a:ext cx="19073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0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DFD54-5E41-45A7-A02C-C48B043B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8048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Take several identical fidget spinners and attach neodymium magnets to their ends. If you place them side by side on a plane and rotate one of them, the remaining ones start to rotate only due to the magnetic field. Investigate and explain the phenomenon.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9BC4D-2AA6-4E8F-82F7-A7CE88AC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8F1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147B6-F149-468A-AA14-709B292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Main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393E4-9294-47BE-9A55-41035F0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8F1"/>
          </a:solidFill>
          <a:ln xmlns:a="http://schemas.openxmlformats.org/drawingml/2006/main" w="9525">
            <a:solidFill>
              <a:srgbClr val="08080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CFB9E-603C-414F-BFBB-FD29568F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1">
                <a:solidFill>
                  <a:srgbClr val="080808"/>
                </a:solidFill>
                <a:latin typeface="Arial"/>
                <a:ea typeface="Arial"/>
                <a:cs typeface="Arial"/>
              </a:rPr>
              <a:t>Key 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956A4-EBE0-445B-971B-FDE0C73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32670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Physical mechanism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Assumptions and limits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Parameter dependence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33F31-D724-49BB-89EE-41E7D6D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32670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Measured trend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Theory comparison</a:t>
            </a:r>
          </a:p>
          <a:p xmlns:a="http://schemas.openxmlformats.org/drawingml/2006/main">
            <a:pPr algn="l">
              <a:defRPr sz="17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• Remaining discrepancy</a:t>
            </a:r>
          </a:p>
        </p:txBody>
      </p:sp>
    </p:spTree>
    <p:extLst>
      <p:ext uri="{BB962C8B-B14F-4D97-AF65-F5344CB8AC3E}">
        <p14:creationId xmlns:p14="http://schemas.microsoft.com/office/powerpoint/2010/main" val="2062381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95CC4-FC0C-44AD-AC94-FF8D290E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09A05-3B2B-469F-AEFC-96349D4F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12DCD-D2EA-4309-B9A2-4E71406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8C94C-5BC5-4456-A3F9-94D91E55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>
            <a:def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9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D74B6-8E1F-4D8F-825F-308829B4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76771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1. Author, title, publication,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2. Data or apparatus source, locator,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3. Figure and image credits, where applicable.</a:t>
            </a:r>
          </a:p>
        </p:txBody>
      </p:sp>
    </p:spTree>
    <p:extLst>
      <p:ext uri="{BB962C8B-B14F-4D97-AF65-F5344CB8AC3E}">
        <p14:creationId xmlns:p14="http://schemas.microsoft.com/office/powerpoint/2010/main" val="956731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3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B3FE1-5609-42B1-95ED-304E650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>
            <a:def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CYPT 20XX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06BA2-9E11-4430-96F6-CE7DA6F4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"/>
            <a:ext cx="6515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4E02-3D56-46B2-99F1-38A3EB65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"/>
            <a:ext cx="266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2897"/>
          </a:bodyPr>
          <a:lstStyle xmlns:a="http://schemas.openxmlformats.org/drawingml/2006/main">
            <a:def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7A91C-DEE1-4C0D-AA77-8F840756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3906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45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Thank you!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FC7F-93E1-4D56-87B3-89BF624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>
            <a:defPPr algn="l">
              <a:defRPr sz="18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Team name | Presenter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B6EAD-5CFD-45FF-B743-B7ADD8CB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819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0D86A-D73D-41BC-A5DA-E7A5DAB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4181475"/>
            <a:ext cx="742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959DF-F32D-4F4B-A12C-919F722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86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ABF83-FE91-4276-A884-95430E25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4181475"/>
            <a:ext cx="9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32AAD-2D9B-44B7-8386-F1066ABD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29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9D752-A8BD-4169-AA3F-C29A913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72150" y="4181475"/>
            <a:ext cx="742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C18A7-F05F-48CD-9AE3-040DB5B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86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0C4DA-EC88-4ED8-AD12-69DCF308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15100" y="3438525"/>
            <a:ext cx="9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A7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1F9B6-BDFA-4559-80A8-B3C9B34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16D82-0DAB-4A92-B3DE-CAD0D4DF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52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DEBE4-FE8A-41CA-8C07-058142F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 i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10. Magnetic Gear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154AA-4C4A-4620-BBED-A65AE16C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91200"/>
            <a:ext cx="819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2852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2026-10-14T12:10:13.1420000Z</dcterms:created>
  <dcterms:modified xsi:type="dcterms:W3CDTF">2026-10-14T12:10:13.1420000Z</dcterms:modified>
</coreProperties>
</file>