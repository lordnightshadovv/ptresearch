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d8a2fcd56740a9" /><Relationship Type="http://schemas.openxmlformats.org/officeDocument/2006/relationships/extended-properties" Target="/docProps/app.xml" Id="Raaba8255383947ca" /><Relationship Type="http://schemas.openxmlformats.org/officeDocument/2006/relationships/officeDocument" Target="/ppt/presentation.xml" Id="Rd626ea2dfeea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396e7fa74c428f"/>
  </p:sldMasterIdLst>
  <p:notesMasterIdLst>
    <p:notesMasterId xmlns:r="http://schemas.openxmlformats.org/officeDocument/2006/relationships" r:id="Ra0b7696d21be49ec"/>
  </p:notesMasterIdLst>
  <p:sldIdLst>
    <p:sldId xmlns:r="http://schemas.openxmlformats.org/officeDocument/2006/relationships" id="256" r:id="R70fb70b498f647f1"/>
    <p:sldId xmlns:r="http://schemas.openxmlformats.org/officeDocument/2006/relationships" id="257" r:id="Red7c987ef10e4dcf"/>
    <p:sldId xmlns:r="http://schemas.openxmlformats.org/officeDocument/2006/relationships" id="258" r:id="Rdd99b3bcfb26481e"/>
    <p:sldId xmlns:r="http://schemas.openxmlformats.org/officeDocument/2006/relationships" id="259" r:id="R3ceff22716e64c6b"/>
    <p:sldId xmlns:r="http://schemas.openxmlformats.org/officeDocument/2006/relationships" id="260" r:id="R519195bc575741a1"/>
    <p:sldId xmlns:r="http://schemas.openxmlformats.org/officeDocument/2006/relationships" id="261" r:id="R578937b3d117427b"/>
    <p:sldId xmlns:r="http://schemas.openxmlformats.org/officeDocument/2006/relationships" id="262" r:id="R0798228466af4272"/>
    <p:sldId xmlns:r="http://schemas.openxmlformats.org/officeDocument/2006/relationships" id="263" r:id="Rc5a2e1b4241a4a32"/>
    <p:sldId xmlns:r="http://schemas.openxmlformats.org/officeDocument/2006/relationships" id="264" r:id="R1bc1f8bef8f84b3a"/>
    <p:sldId xmlns:r="http://schemas.openxmlformats.org/officeDocument/2006/relationships" id="265" r:id="R1162e33d2f0a4cfb"/>
    <p:sldId xmlns:r="http://schemas.openxmlformats.org/officeDocument/2006/relationships" id="266" r:id="Rf3b93f494a164103"/>
    <p:sldId xmlns:r="http://schemas.openxmlformats.org/officeDocument/2006/relationships" id="267" r:id="R9bfd8cd9447e4561"/>
    <p:sldId xmlns:r="http://schemas.openxmlformats.org/officeDocument/2006/relationships" id="268" r:id="R0e754a7a85ce4a78"/>
    <p:sldId xmlns:r="http://schemas.openxmlformats.org/officeDocument/2006/relationships" id="269" r:id="Re0e5bc07a2544b51"/>
    <p:sldId xmlns:r="http://schemas.openxmlformats.org/officeDocument/2006/relationships" id="270" r:id="R96254f21c2de4c5b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a5f66e0c5b4eb2" /><Relationship Type="http://schemas.openxmlformats.org/officeDocument/2006/relationships/slideMaster" Target="/ppt/slideMasters/slideMaster1.xml" Id="R01396e7fa74c428f" /><Relationship Type="http://schemas.openxmlformats.org/officeDocument/2006/relationships/notesMaster" Target="/ppt/notesMasters/notesMaster1.xml" Id="Ra0b7696d21be49ec" /><Relationship Type="http://schemas.openxmlformats.org/officeDocument/2006/relationships/presProps" Target="/ppt/presProps.xml" Id="R2e62d7ce02764a2f" /><Relationship Type="http://schemas.openxmlformats.org/officeDocument/2006/relationships/tableStyles" Target="/ppt/tableStyles.xml" Id="R3c7a806bde1342e0" /><Relationship Type="http://schemas.openxmlformats.org/officeDocument/2006/relationships/slide" Target="/ppt/slides/slide1.xml" Id="R70fb70b498f647f1" /><Relationship Type="http://schemas.openxmlformats.org/officeDocument/2006/relationships/slide" Target="/ppt/slides/slide2.xml" Id="Red7c987ef10e4dcf" /><Relationship Type="http://schemas.openxmlformats.org/officeDocument/2006/relationships/slide" Target="/ppt/slides/slide3.xml" Id="Rdd99b3bcfb26481e" /><Relationship Type="http://schemas.openxmlformats.org/officeDocument/2006/relationships/slide" Target="/ppt/slides/slide4.xml" Id="R3ceff22716e64c6b" /><Relationship Type="http://schemas.openxmlformats.org/officeDocument/2006/relationships/slide" Target="/ppt/slides/slide5.xml" Id="R519195bc575741a1" /><Relationship Type="http://schemas.openxmlformats.org/officeDocument/2006/relationships/slide" Target="/ppt/slides/slide6.xml" Id="R578937b3d117427b" /><Relationship Type="http://schemas.openxmlformats.org/officeDocument/2006/relationships/slide" Target="/ppt/slides/slide7.xml" Id="R0798228466af4272" /><Relationship Type="http://schemas.openxmlformats.org/officeDocument/2006/relationships/slide" Target="/ppt/slides/slide8.xml" Id="Rc5a2e1b4241a4a32" /><Relationship Type="http://schemas.openxmlformats.org/officeDocument/2006/relationships/slide" Target="/ppt/slides/slide9.xml" Id="R1bc1f8bef8f84b3a" /><Relationship Type="http://schemas.openxmlformats.org/officeDocument/2006/relationships/slide" Target="/ppt/slides/slide10.xml" Id="R1162e33d2f0a4cfb" /><Relationship Type="http://schemas.openxmlformats.org/officeDocument/2006/relationships/slide" Target="/ppt/slides/slide11.xml" Id="Rf3b93f494a164103" /><Relationship Type="http://schemas.openxmlformats.org/officeDocument/2006/relationships/slide" Target="/ppt/slides/slide12.xml" Id="R9bfd8cd9447e4561" /><Relationship Type="http://schemas.openxmlformats.org/officeDocument/2006/relationships/slide" Target="/ppt/slides/slide13.xml" Id="R0e754a7a85ce4a78" /><Relationship Type="http://schemas.openxmlformats.org/officeDocument/2006/relationships/slide" Target="/ppt/slides/slide14.xml" Id="Re0e5bc07a2544b51" /><Relationship Type="http://schemas.openxmlformats.org/officeDocument/2006/relationships/slide" Target="/ppt/slides/slide15.xml" Id="R96254f21c2de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95cfd9208d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b09ae2d2a5483b" /><Relationship Type="http://schemas.openxmlformats.org/officeDocument/2006/relationships/notesMaster" Target="/ppt/notesMasters/notesMaster1.xml" Id="R91c3eb4ae806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b13fd1d514c16" /><Relationship Type="http://schemas.openxmlformats.org/officeDocument/2006/relationships/notesMaster" Target="/ppt/notesMasters/notesMaster1.xml" Id="Rdc5298d696ac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81435fa59459e" /><Relationship Type="http://schemas.openxmlformats.org/officeDocument/2006/relationships/notesMaster" Target="/ppt/notesMasters/notesMaster1.xml" Id="R68c4272387374c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299f186e74dbe" /><Relationship Type="http://schemas.openxmlformats.org/officeDocument/2006/relationships/notesMaster" Target="/ppt/notesMasters/notesMaster1.xml" Id="Rc9665de97c2548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7307485654637" /><Relationship Type="http://schemas.openxmlformats.org/officeDocument/2006/relationships/notesMaster" Target="/ppt/notesMasters/notesMaster1.xml" Id="R19abb2cab4b743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d6ef649f844224" /><Relationship Type="http://schemas.openxmlformats.org/officeDocument/2006/relationships/notesMaster" Target="/ppt/notesMasters/notesMaster1.xml" Id="Rf2e692738fd74e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864132b9e4e78" /><Relationship Type="http://schemas.openxmlformats.org/officeDocument/2006/relationships/notesMaster" Target="/ppt/notesMasters/notesMaster1.xml" Id="R51f3d77cf01c4e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8ce1c02e649d0" /><Relationship Type="http://schemas.openxmlformats.org/officeDocument/2006/relationships/notesMaster" Target="/ppt/notesMasters/notesMaster1.xml" Id="R74fcb1f0d8d842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2b256fb8cd4de9" /><Relationship Type="http://schemas.openxmlformats.org/officeDocument/2006/relationships/notesMaster" Target="/ppt/notesMasters/notesMaster1.xml" Id="R82d3fa5cc04b41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3a17e175004ef4" /><Relationship Type="http://schemas.openxmlformats.org/officeDocument/2006/relationships/notesMaster" Target="/ppt/notesMasters/notesMaster1.xml" Id="R53b99f4387574d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f91043be7d4a85" /><Relationship Type="http://schemas.openxmlformats.org/officeDocument/2006/relationships/notesMaster" Target="/ppt/notesMasters/notesMaster1.xml" Id="R8e08af45d64d46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556ef2b26c4b14" /><Relationship Type="http://schemas.openxmlformats.org/officeDocument/2006/relationships/notesMaster" Target="/ppt/notesMasters/notesMaster1.xml" Id="Rfb02c31a652d41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fbea0e2f64445c" /><Relationship Type="http://schemas.openxmlformats.org/officeDocument/2006/relationships/notesMaster" Target="/ppt/notesMasters/notesMaster1.xml" Id="Rbdccef23783941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598155f8bc432c" /><Relationship Type="http://schemas.openxmlformats.org/officeDocument/2006/relationships/notesMaster" Target="/ppt/notesMasters/notesMaster1.xml" Id="R8865bb008ebc4a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027f9cf59f46eb" /><Relationship Type="http://schemas.openxmlformats.org/officeDocument/2006/relationships/notesMaster" Target="/ppt/notesMasters/notesMaster1.xml" Id="Rd531454af48847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cover. Replace title, presenter, event label and prompt. Source composition: Team Singapore Magnetic Gear PDF, page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prompt and layout based on Team Singapore PDF, pages 2–3. Prompt wording is retained as reference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Singapore PDF page 4. Colored parameter groups and diagram are editable native shapes; the four category labels and original parameter wording are retained. Verify prompt wording and replace the sample diagram when converting a different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 sections in assets/template-config.json and rerun the builder. The overview and every roadmap footer are generated from the same section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this divider for any section; update its section index in the build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is editable. This is a layout exemplar based on Team Singapore PDF page 7, not a validated model for another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and retained example values: Team Singapore Magnetic Gear PDF page 10. Photos are embedded replaceable image objects. Plot lines are editable schematic redraws for layout only; obtain original data before using the graphs as evidence. Numerical values also require source verification before reuse in a new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interpretation of Team Singapore PDF page 21: two perturbed spinner diagrams and the dipole-to-linearized-equation hierarchy. The compact K substitution is for template readability; verify equations, assumptions, symbols and typesetting against the original before citing or presenting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Singapore PDF page 14. Both photographs are user-supplied source images and remain replaceable image objects. Callout boxes, connectors and checkmark are editable. Ensure the photo orientation/crop and component labels fit the apparatus when reusing this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chart with illustrative values only. Replace every value, axis label, unit and legend before presenting. Layout based on Team Singapore graph pages 17–24.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translucent banner adapted from Team Slovakia Wet Scroll PDF page 26. Rewrite the statement to a conclusion supported by the plotted data; remove the banner where it hides important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layout based on Team Singapore pages 29–30. Preserve measured values and uncertainty when transforming a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layout based on Team Singapore pages 63–65. Bullet content is instructional placeholder text, not a finding.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reference page. Replace every placeholder with traceable citations from the source presentation and any new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layout based on Team Singapore PDF page 67. Replace title and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47d3bf8274f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0c5fa14894626" /><Relationship Type="http://schemas.openxmlformats.org/officeDocument/2006/relationships/slideLayout" Target="/ppt/slideLayouts/slideLayout1.xml" Id="Rcc2f21d778ca43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f21d778ca43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008f429f4459a" /><Relationship Type="http://schemas.openxmlformats.org/officeDocument/2006/relationships/notesSlide" Target="/ppt/notesSlides/notesSlide1.xml" Id="Rb4a0836d8a3b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397edb2714272" /><Relationship Type="http://schemas.openxmlformats.org/officeDocument/2006/relationships/notesSlide" Target="/ppt/notesSlides/notesSlide2.xml" Id="R7b16aed56085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80af52f9d4488" /><Relationship Type="http://schemas.openxmlformats.org/officeDocument/2006/relationships/notesSlide" Target="/ppt/notesSlides/notesSlide3.xml" Id="R4b87b2fd4a7a44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38e26db9a4847" /><Relationship Type="http://schemas.openxmlformats.org/officeDocument/2006/relationships/notesSlide" Target="/ppt/notesSlides/notesSlide4.xml" Id="Rfc622437c4404a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19b58d5e1468e" /><Relationship Type="http://schemas.openxmlformats.org/officeDocument/2006/relationships/notesSlide" Target="/ppt/notesSlides/notesSlide5.xml" Id="R9031adea330047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22378357e47e9" /><Relationship Type="http://schemas.openxmlformats.org/officeDocument/2006/relationships/notesSlide" Target="/ppt/notesSlides/notesSlide6.xml" Id="R06ebab4200794c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35fec5bb343a7" /><Relationship Type="http://schemas.openxmlformats.org/officeDocument/2006/relationships/image" Target="/ppt/media/image.png" Id="Rf67b9cc121234580" /><Relationship Type="http://schemas.openxmlformats.org/officeDocument/2006/relationships/image" Target="/ppt/media/image2.png" Id="Rf58b710821b44439" /><Relationship Type="http://schemas.openxmlformats.org/officeDocument/2006/relationships/image" Target="/ppt/media/image3.png" Id="Rcd59c0116c36473f" /><Relationship Type="http://schemas.openxmlformats.org/officeDocument/2006/relationships/notesSlide" Target="/ppt/notesSlides/notesSlide7.xml" Id="R256f40a000d549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e02840a8e4d7f" /><Relationship Type="http://schemas.openxmlformats.org/officeDocument/2006/relationships/notesSlide" Target="/ppt/notesSlides/notesSlide8.xml" Id="R920b6ee6f2b444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09975c0c249a5" /><Relationship Type="http://schemas.openxmlformats.org/officeDocument/2006/relationships/image" Target="/ppt/media/image4.png" Id="R935c8189e04d4b02" /><Relationship Type="http://schemas.openxmlformats.org/officeDocument/2006/relationships/image" Target="/ppt/media/image5.png" Id="R5573eb8bbc6c4661" /><Relationship Type="http://schemas.openxmlformats.org/officeDocument/2006/relationships/notesSlide" Target="/ppt/notesSlides/notesSlide9.xml" Id="Rfc2fbf0140e441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64e8e1c6f4f74" /><Relationship Type="http://schemas.openxmlformats.org/officeDocument/2006/relationships/chart" Target="/ppt/slides/charts/chart1.xml" Id="Rd0fce8382c5b4aad" /><Relationship Type="http://schemas.openxmlformats.org/officeDocument/2006/relationships/notesSlide" Target="/ppt/notesSlides/notesSlide10.xml" Id="R084b5b69536f4e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620dfc42948f5" /><Relationship Type="http://schemas.openxmlformats.org/officeDocument/2006/relationships/chart" Target="/ppt/slides/charts/chart2.xml" Id="Rb663be744d914dab" /><Relationship Type="http://schemas.openxmlformats.org/officeDocument/2006/relationships/notesSlide" Target="/ppt/notesSlides/notesSlide11.xml" Id="R509c5ea66a3e43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2c4ae034441f4" /><Relationship Type="http://schemas.openxmlformats.org/officeDocument/2006/relationships/notesSlide" Target="/ppt/notesSlides/notesSlide12.xml" Id="R7bbd11eef3d844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6b1674e7f4475" /><Relationship Type="http://schemas.openxmlformats.org/officeDocument/2006/relationships/notesSlide" Target="/ppt/notesSlides/notesSlide13.xml" Id="Rb4a9751768b444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6ef3361604847" /><Relationship Type="http://schemas.openxmlformats.org/officeDocument/2006/relationships/notesSlide" Target="/ppt/notesSlides/notesSlide14.xml" Id="R0e8cc9bea3fa4b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a5a564f6e4d17" /><Relationship Type="http://schemas.openxmlformats.org/officeDocument/2006/relationships/notesSlide" Target="/ppt/notesSlides/notesSlide15.xml" Id="R7be4f3ea7925426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Experiment</c:v>
          </c:tx>
          <c:spPr>
            <a:ln xmlns:a="http://schemas.openxmlformats.org/drawingml/2006/main" w="28575">
              <a:solidFill>
                <a:srgbClr val="579DC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579DCB"/>
              </a:solidFill>
            </c:spPr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1.1</c:v>
              </c:pt>
              <c:pt idx="1">
                <c:v>1.6</c:v>
              </c:pt>
              <c:pt idx="2">
                <c:v>2.1</c:v>
              </c:pt>
              <c:pt idx="3">
                <c:v>2.7</c:v>
              </c:pt>
              <c:pt idx="4">
                <c:v>3.2</c:v>
              </c:pt>
            </c:numLit>
          </c:val>
        </c:ser>
        <c:ser>
          <c:idx val="1"/>
          <c:order val="1"/>
          <c:tx>
            <c:v>Theory</c:v>
          </c:tx>
          <c:spPr>
            <a:ln xmlns:a="http://schemas.openxmlformats.org/drawingml/2006/main" w="19050">
              <a:solidFill>
                <a:srgbClr val="E3001B"/>
              </a:solidFill>
            </a:ln>
          </c:spPr>
          <c:marker>
            <c:symbol val="none"/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1.7</c:v>
              </c:pt>
              <c:pt idx="2">
                <c:v>2.2</c:v>
              </c:pt>
              <c:pt idx="3">
                <c:v>2.6</c:v>
              </c:pt>
              <c:pt idx="4">
                <c:v>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Independent variable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Observable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3E0"/>
        </a:solidFill>
        <a:ln xmlns:a="http://schemas.openxmlformats.org/drawingml/2006/main" w="9525">
          <a:solidFill>
            <a:srgbClr val="080808"/>
          </a:solidFill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3E0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Experiment</c:v>
          </c:tx>
          <c:spPr>
            <a:ln xmlns:a="http://schemas.openxmlformats.org/drawingml/2006/main" w="28575">
              <a:solidFill>
                <a:srgbClr val="579DC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579DCB"/>
              </a:solidFill>
            </c:spPr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1.1</c:v>
              </c:pt>
              <c:pt idx="1">
                <c:v>1.6</c:v>
              </c:pt>
              <c:pt idx="2">
                <c:v>2.1</c:v>
              </c:pt>
              <c:pt idx="3">
                <c:v>2.7</c:v>
              </c:pt>
              <c:pt idx="4">
                <c:v>3.2</c:v>
              </c:pt>
            </c:numLit>
          </c:val>
        </c:ser>
        <c:ser>
          <c:idx val="1"/>
          <c:order val="1"/>
          <c:tx>
            <c:v>Theory</c:v>
          </c:tx>
          <c:spPr>
            <a:ln xmlns:a="http://schemas.openxmlformats.org/drawingml/2006/main" w="19050">
              <a:solidFill>
                <a:srgbClr val="E3001B"/>
              </a:solidFill>
            </a:ln>
          </c:spPr>
          <c:marker>
            <c:symbol val="none"/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1.7</c:v>
              </c:pt>
              <c:pt idx="2">
                <c:v>2.2</c:v>
              </c:pt>
              <c:pt idx="3">
                <c:v>2.6</c:v>
              </c:pt>
              <c:pt idx="4">
                <c:v>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Independent variable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Observable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3E0"/>
        </a:solidFill>
        <a:ln xmlns:a="http://schemas.openxmlformats.org/drawingml/2006/main" w="9525">
          <a:solidFill>
            <a:srgbClr val="080808"/>
          </a:solidFill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3E0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AFA61-DAD0-407C-935A-F5389596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CB082-2AEE-4EC8-9374-33767572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96D9B-B696-4CB1-8DCD-D5533A2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4D6C7-5388-442E-85C5-10D77DD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09675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4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10. Magnetic Gear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20B06-9D68-4E28-A407-95D5BA1B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619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23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Team name | Presenter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DF967-5851-46BF-9B6D-75119416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83064-D5EF-45FB-B1B2-E5B9F91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048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76"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identical fidget spinners and attach neodymium magnets to their ends. If you place them side by side on a plane and rotate one of them, the remaining ones start to rotate only due to the magnetic field. Investigate and explain the phenomenon.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9E782-9C50-4CE4-807B-29C851C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7220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15FD0-B77D-4565-AD35-3A8960EC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130F6-EFF8-4A13-A6DA-44CD3C60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72200" y="40481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FB159-A9B9-404A-9CE9-616B5B3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76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E251D-D4FB-46AB-8BED-B4F2F135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4830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D44C0-0F2B-47D5-A1E2-74E6D2C7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44EC7-5833-409E-A244-82F399E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72200" y="33242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9C31D-40DD-4E3C-9FF2-A519C296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28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E754B-0284-40D9-9925-82B3C588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75981-8D1F-4F8B-A081-107AE40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525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F9906-1F93-4528-938F-7EC09EC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440EF-43E9-49B7-8130-800304B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5250" y="40481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B309C-FF2C-4C14-A574-0CCDC66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76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F64E8-5321-4CA3-A832-5A072B82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9135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F260E-E18D-445A-9FB1-6B60884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793D0-2B4F-4D34-904C-989CD73B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5250" y="33242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C76EA-7E4C-40EC-BECA-D2A6422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28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74737-9BB6-4488-80EF-16943C02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01E22-C06A-43F7-B0A7-C3F1074C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5525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684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50ACA7-3BF0-4BB3-B541-DDEA31A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1FDA6-4425-48BC-9E7B-D651D916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4512D-5B53-4695-A242-0A8C26AC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2699D-C8A0-461F-A9D5-3544038F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55667-56CD-43E5-81CD-770D7517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327"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identical fidget spinners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attach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neodymium magnets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to their ends. If you place them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side by side on a plane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rotate one of them, the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remaining ones start to rotate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only due to the magnetic field. Investigate and explain the phenomenon.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B598-A478-44C7-A6C8-9D16C5B1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3811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D139F-1688-4B53-AB86-9185F4A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04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56575-D9B7-4E42-8836-4F23AA65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6232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502E3-81AC-4EC0-9844-8DEC8497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40C81-8FEC-4C69-880C-8AB757BA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62325" y="403860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28D59-E9A9-4A90-9F3B-D3AB9293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95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8AE1F-ADB7-45B6-90AE-D5F35BFA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0987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26E84-A249-4504-8D49-5936999E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2AEC0-76EA-4327-8A2E-8B97520F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62325" y="348615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9242C-BA14-47A1-961D-F1FFCC33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EC682-BA1F-4C45-821D-3338CE9E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F2C20-2DFF-4AAE-88AB-0A5C6CB4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1497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32028-AE11-449C-989D-F74C69C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A09E6-BFEE-4C56-BE22-9A788204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14975" y="403860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EFDCC-99E6-4B0F-AF3D-3795BD0E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495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DEDF7-0CF0-4004-87FE-BDA08533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6252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92E53-1C5D-40A2-B5EA-0AF6AE74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CD682-6BDB-4469-B18E-24A30A34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14975" y="348615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EEC5D-0D68-4070-A958-7930CB9D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54545-5591-4E93-B191-0DAD38FB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10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D0178-DF14-4165-850D-FD4B261D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10025" y="4038600"/>
            <a:ext cx="857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2B1F3-A1FE-4621-AC99-D1EF151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60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F3A4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1BACD-9ED0-42E4-96A0-8125968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Spinner parameters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07D39-DF06-44FA-A0C3-FA33464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28975"/>
            <a:ext cx="1962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Number of arms</a:t>
            </a:r>
          </a:p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Magnet arrangement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1CF86-4648-4346-A48C-4EF11F63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579D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6A16D1-A9BD-44DC-8143-77F26EE5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Magnet parameters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2AD3E4-8ECE-4AC7-BD9B-632D3947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72000"/>
            <a:ext cx="1962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Orientation</a:t>
            </a:r>
          </a:p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Magnetization</a:t>
            </a:r>
          </a:p>
        </p:txBody>
      </p:sp>
    </p:spTree>
    <p:extLst>
      <p:ext uri="{BB962C8B-B14F-4D97-AF65-F5344CB8AC3E}">
        <p14:creationId xmlns:p14="http://schemas.microsoft.com/office/powerpoint/2010/main" val="1883873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126230-471A-4FBC-8526-C9405A27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38B68-804E-4885-A029-B0F90350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29D8-1C3E-487A-B965-73978F1D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74004-83DF-485D-B331-09CDDFA9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C4B25-5CCE-4F6A-B603-EFED8288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810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identical fidget spinners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attach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neodymium magnets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to their ends. If you place them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side by side on a plane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rotate one of them, the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remaining ones start to rotate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only due to the magnetic field. Investigate and explain the phenomenon.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FFEF7-2067-4BAD-ACD8-C69FD2B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581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BC96C-F680-4A5A-B487-C515D3E7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7D7E5-EA1D-4C8E-9640-8635ED20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95700"/>
            <a:ext cx="2686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7030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C357C-7EB7-46D2-82C1-079181AC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636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7030A0"/>
                </a:solidFill>
                <a:latin typeface="Arial"/>
                <a:ea typeface="Arial"/>
                <a:cs typeface="Arial"/>
              </a:rPr>
              <a:t>Spinner positions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D1CDC-B9DD-44EC-92E6-BF2A0704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338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Distance between spinners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Number of spinners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Arrangement of spinners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939D3-B82D-45E6-8D43-9FE8929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24500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57C7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A7AEE-9E3B-41B1-B222-C9C95DBE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91150"/>
            <a:ext cx="192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636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57C782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57C782"/>
                </a:solidFill>
                <a:latin typeface="Arial"/>
                <a:ea typeface="Arial"/>
                <a:cs typeface="Arial"/>
              </a:rPr>
              <a:t>Initial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CACEB-F1C3-406A-835D-C67B6051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38825"/>
            <a:ext cx="2333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Initial angular positions</a:t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Initial angular velocities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92D6C-897E-4CC8-AE79-09E36EFD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9975"/>
            <a:ext cx="2438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F3A4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A5176-4B1F-4876-9055-528C506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F3A447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F3A447"/>
                </a:solidFill>
                <a:latin typeface="Arial"/>
                <a:ea typeface="Arial"/>
                <a:cs typeface="Arial"/>
              </a:rPr>
              <a:t>Spinner parameters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1F45-8F40-4251-9948-1526E62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A83B0-FD5B-4A53-AA76-59A1DB09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7E6F9-AD88-419D-8AE2-412D15E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002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Number of arms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8BEEA-CA04-4384-8B37-DE8B70FB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2228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579D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74DAB-4D87-451B-A931-A9E7B90B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339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579DCB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579DCB"/>
                </a:solidFill>
                <a:latin typeface="Arial"/>
                <a:ea typeface="Arial"/>
                <a:cs typeface="Arial"/>
              </a:rPr>
              <a:t>Magnet parameters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8E8BD-3605-4C9F-A836-C7EFEA8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4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4915A-E6E0-47B7-A237-951A899C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32C71-2B15-4EC3-BCF2-D087F615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72050"/>
            <a:ext cx="1095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15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Orientation of</a:t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magnets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E8603-CAC4-462F-AF5A-A01B3970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5962650"/>
            <a:ext cx="211610" cy="56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05BCA-6BB1-4698-A777-81B022BC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985" y="592410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A8E6B-6CB8-4C97-9AC9-CF7D62CE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48924" y="5962650"/>
            <a:ext cx="56701" cy="211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0EFB1-7275-42CD-8B3D-54D8DFA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74" y="607901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746E3-12B5-47D8-B2B5-C297557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4015" y="5905949"/>
            <a:ext cx="211610" cy="56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884DD9-C0D3-4690-8A27-A915A0AC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765" y="5810699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D95F44-F1DD-4670-B994-DC0F6718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05625" y="5751040"/>
            <a:ext cx="56701" cy="211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D7FD6A-DEEE-4E9E-825D-F339FA9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076" y="565579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6104C6-061C-4369-82C4-D39BA9B7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34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ACF974-627E-45FF-915A-5319716A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81675"/>
            <a:ext cx="1123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479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Magnetization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294E90-7D3A-42FA-85B4-805A567E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9EEB9B-26D2-4518-B4C3-267509B7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29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CF161A-BCFD-4A71-AD78-BB362AFE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14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15EF0D-7FB5-4555-9D86-0BFAE109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29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2BB515-E049-4DEB-90A5-0C6BEB85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038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43AF19-1A49-4293-B747-2560AAF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86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842DB7-8164-466E-AD7B-7A6FEC2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715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FB7237-027A-460D-A7C7-16BFA9E3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48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CD89AF-954B-4155-8F44-00E05DDE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648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1AD9FD-9BBA-4D68-941F-7173D18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81450" y="3276600"/>
            <a:ext cx="36195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62E962-998B-4FDC-8C9C-5697483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43400" y="3752850"/>
            <a:ext cx="6858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A183DC-581C-405D-ACFE-E67987FA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81450" y="3933825"/>
            <a:ext cx="3619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6C0F42-F6DD-4FB7-9A5D-99B8EE6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95625" y="4752975"/>
            <a:ext cx="38100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E83C63-34E6-494C-BA42-EE1FA564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25" y="5162550"/>
            <a:ext cx="6762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1B9B83-0802-450D-A038-8829506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05150" y="5429250"/>
            <a:ext cx="3714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83872C-EAEE-44F1-B361-175CC7D3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52900" y="5162550"/>
            <a:ext cx="41910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7B7173-3BFC-4C4B-98CA-2E28FA89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0" y="4810125"/>
            <a:ext cx="4667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CE95D1-94EB-4643-B304-B7EA19A4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62425" y="5762625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5DB501-D70E-4719-9352-C2E52A26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38725" y="4810125"/>
            <a:ext cx="4572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ECFABD-4486-4DB1-9E6C-977779B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95925" y="5448300"/>
            <a:ext cx="4667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81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FDCFB-0B03-4772-BD94-6C120D5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54304-A07C-45E8-9CD0-282ED247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5CD6C-9FD5-4A87-B35E-6992D31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7FD48-37C9-4B7B-94E5-66CEA08D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76AB2-8507-4B21-8CC3-302E365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2DB31-A43B-4534-A2C3-B642E18A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049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A8C49-4BF7-4E41-ADCC-21EC0DD8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5B473-039D-4499-9C82-44956F0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Quantitative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93193-C64F-4DCF-9B77-A52EF67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D6CB9-FDB9-4E61-A2A0-B117D14B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717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97019-B15D-4CBB-9861-F19AEFFD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7D653-58F7-4C47-B9B9-6DADF8B1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Small oscillations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8F0F8-0AFB-4758-8E58-E591E57A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E19AB-76EE-4C10-BF12-168031F8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385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85056-BD2B-4B79-AA17-09466C1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528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3E640-CA61-40F6-A6FF-EB60E3DF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291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Velocity ratios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76C04-CFF8-46BB-9BEC-47293AA3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1198F-C515-467B-AFB2-1E5415D8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053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BE0C8-96E0-4836-8150-5284005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77E58-0FE2-4EEF-BAF3-52788F0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Further insights, summary</a:t>
            </a:r>
          </a:p>
        </p:txBody>
      </p:sp>
    </p:spTree>
    <p:extLst>
      <p:ext uri="{BB962C8B-B14F-4D97-AF65-F5344CB8AC3E}">
        <p14:creationId xmlns:p14="http://schemas.microsoft.com/office/powerpoint/2010/main" val="807082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DF823-738F-4EA1-A2F5-1A811AAD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80CD2-B7F6-489A-AE0A-A429785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91E41-2572-4682-9E11-9E9F2C7D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E3A87-308F-401D-917A-C11DB456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72007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F99E88-50BD-421B-AC70-88903853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DC914-8002-4A6C-AA78-7FEB25A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4676F-5DD2-4B19-92FD-8CA2CB26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26536-9F83-4BE7-9069-FE3BA69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Current Cylinder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57FD0-0990-4438-957D-01F48BEF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1C94B-CADE-4CDB-9676-F6F594AC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6AC7D-B071-465D-8C78-73DBD29A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90DAE-1FE1-498C-91B7-BA96700F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B10C4-DF52-4683-A5B2-1BF068B4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E6F20-E0D1-4225-B355-C0F8EF85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EA4B2-1AF3-41A8-ACBC-FA88517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33901-1008-4ED8-9669-B21B8E57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5C0D8-09F7-4CBD-836F-3827F8A1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0800" y="3419475"/>
            <a:ext cx="1113012" cy="156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ECC51-05E0-436B-A711-52E245B6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562" y="3480649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E0B95-D897-4927-9096-F293CD2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0800" y="3419475"/>
            <a:ext cx="885685" cy="6919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A80C0-3994-4E04-9D5C-7CC79A4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235" y="401619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84292-476A-481B-917E-489BF60D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0800" y="3419475"/>
            <a:ext cx="421039" cy="1042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57E20-2660-4A99-9FB2-F33E4287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89" y="436633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4BAFB-8D5C-499A-A03E-A0C8FD75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34376" y="3419475"/>
            <a:ext cx="156424" cy="11130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8C097-BCC1-46C4-B256-950398C7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126" y="443723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3B115-8281-40F9-B735-8CC01863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98827" y="3419475"/>
            <a:ext cx="691973" cy="885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CCB12-AA67-4D88-BD28-E73A5AAB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577" y="420991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2A4AA-7266-407F-977E-70E21A89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48692" y="3419475"/>
            <a:ext cx="1042108" cy="4210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3136F-D7EC-4FD6-B156-C6F72DE5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442" y="3745264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F4E68-02B9-4E48-9244-F990BA8D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7788" y="3263051"/>
            <a:ext cx="1113012" cy="156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A65F6-4251-4568-BD8E-9157013F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538" y="316780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71350-CD69-4B54-93EF-77173F62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05115" y="2727502"/>
            <a:ext cx="885685" cy="6919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313297-54C0-4771-9A7F-C791F87F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865" y="2632252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FE009-6531-4832-A7F0-EB7D445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69761" y="2377367"/>
            <a:ext cx="421039" cy="1042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22F06-5EE6-4ACC-863F-4B1F25B3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11" y="228211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3413BA-C715-4871-93CB-C3104935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90800" y="2306463"/>
            <a:ext cx="156424" cy="11130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82EF5-4C7D-473A-9C30-64D411B8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974" y="221121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D5F88B-55FD-4979-8163-3AECA67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90800" y="2533790"/>
            <a:ext cx="691973" cy="885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A9F419-9CBA-4000-ADA4-040EE559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523" y="243854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0DE85-C900-402F-A628-96FFF361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90800" y="2998436"/>
            <a:ext cx="1042108" cy="4210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D7C04F-2A85-4B80-8316-39A93602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58" y="2903186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F69F8D-188D-4ED3-8C8E-1A797B57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909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5A32A6-1A00-4BEB-ADEC-7807BB7E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295525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4D6"/>
          </a:solidFill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548B1D-9476-4258-8E1B-C8A6FEA4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24175"/>
            <a:ext cx="66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0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50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47D12D-5087-4248-9C32-A260FE3E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81575"/>
            <a:ext cx="2333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15818B-10FE-40EC-AC7F-D46E265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91100"/>
            <a:ext cx="2257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Model assumption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DA6679-6490-4D19-984B-9B3C43F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6252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Replace this diagram and statement with the model used in the new problem.</a:t>
            </a:r>
          </a:p>
        </p:txBody>
      </p:sp>
    </p:spTree>
    <p:extLst>
      <p:ext uri="{BB962C8B-B14F-4D97-AF65-F5344CB8AC3E}">
        <p14:creationId xmlns:p14="http://schemas.microsoft.com/office/powerpoint/2010/main" val="228756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36EF7F-8EB1-45B9-9518-FF7ED834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AB665-5D9C-42DD-A997-6AEB4BAF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D9A49-54F4-4181-AF72-74E75AB3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73D72-D7EF-48C8-BAD7-E9E155B5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Characterization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C5767-A440-4D59-AE0A-A0B26956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5A22C-5F50-4FBA-9C39-97D12D30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04D9D-2865-49BE-A3DD-7320A84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C5FBD-C550-49EF-A636-7485AD3D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D18E8-2F9E-4095-B48E-F8DC4F3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4BCE8-439A-4F53-8C54-EAF4D31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97725-F243-419D-85BE-57B41BAB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A48D-8CEE-4EAC-97EB-2916CE75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b9cc121234580"/>
          <a:stretch xmlns:a="http://schemas.openxmlformats.org/drawingml/2006/main"/>
        </p:blipFill>
        <p:spPr>
          <a:xfrm xmlns:a="http://schemas.openxmlformats.org/drawingml/2006/main" rot="0">
            <a:off x="512406" y="1600200"/>
            <a:ext cx="1804114" cy="15716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D6AF5-24FD-4E9A-9736-F3243D3E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581150"/>
            <a:ext cx="20097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B4F1E-DA30-4FA8-8003-279C24C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575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7AD2D-8075-46DE-96EA-FF74A068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Moment of inertia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b710821b44439"/>
          <a:stretch xmlns:a="http://schemas.openxmlformats.org/drawingml/2006/main"/>
        </p:blipFill>
        <p:spPr>
          <a:xfrm xmlns:a="http://schemas.openxmlformats.org/drawingml/2006/main" rot="0">
            <a:off x="3671565" y="1600200"/>
            <a:ext cx="1562746" cy="15716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FE4B2-A220-4F93-BE0C-E09B2CD5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81150"/>
            <a:ext cx="20097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89724-AFBF-4F5E-8CE8-69C8CFC4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6AC55-DB0E-4FD1-8646-C001E76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67075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Air drag &amp; friction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9c0116c36473f"/>
          <a:stretch xmlns:a="http://schemas.openxmlformats.org/drawingml/2006/main"/>
        </p:blipFill>
        <p:spPr>
          <a:xfrm xmlns:a="http://schemas.openxmlformats.org/drawingml/2006/main" rot="0">
            <a:off x="6486525" y="1632347"/>
            <a:ext cx="2009775" cy="150733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AE0CB-C673-42EC-9919-9CB417A1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81150"/>
            <a:ext cx="20097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FA6C3-6D1D-47B5-9FBF-5C3993A7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6F607-A342-486B-B113-72409C4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67075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Magnetization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72DBA-A840-4EAC-AE9B-161ED1FC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1000" y="5210175"/>
            <a:ext cx="2314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871AC-A427-4C46-A647-B8680BD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1000" y="3914775"/>
            <a:ext cx="9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BA84D1-89AC-43EA-B469-4696DE29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1000" y="4925187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16DAD-E97B-49A7-B9BA-A5086E4B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3915" y="4692015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C76243-8800-4321-BCE2-7C6543B0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6830" y="4458843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78534-7AF7-4641-8031-DD3A93CA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69745" y="4225671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F1288-40AC-43FF-9BC7-885C202F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32660" y="3992499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D31242-2B41-4E5B-A6F8-AF5069C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19475" y="5210175"/>
            <a:ext cx="2314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B84089-EA55-41FE-B9DA-D4262D37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19475" y="3914775"/>
            <a:ext cx="9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B676FF-74DD-49CD-A752-E4FC97F5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19475" y="4769739"/>
            <a:ext cx="462915" cy="440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19CA11-E2C3-45C7-AFC2-AC3FB3A8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82390" y="4445889"/>
            <a:ext cx="46291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E0ADC-E5A3-45E0-8C79-6E7F04D1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45305" y="4225671"/>
            <a:ext cx="462915" cy="2202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B7AEF8-7EA6-4A65-BA01-788BDB06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08220" y="4057269"/>
            <a:ext cx="462915" cy="168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CD6B0D-900A-4FC8-897A-84541856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71135" y="3953637"/>
            <a:ext cx="462915" cy="103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C594B-9748-488A-9DA8-50FB73F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57950" y="5210175"/>
            <a:ext cx="2314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5DB4D4-7825-460A-B81B-3F3EB43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57950" y="3914775"/>
            <a:ext cx="9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A7E5B2-F3E3-49B5-9235-0A945A8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57950" y="3927729"/>
            <a:ext cx="46291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5FB02A-5421-403C-B463-0E0AF265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20865" y="4575429"/>
            <a:ext cx="46291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08B40B-AB3A-493E-9AFB-34A66CB3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83780" y="4899279"/>
            <a:ext cx="462915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9DDD99-D5AB-4055-BF74-5E8F7271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46695" y="5054727"/>
            <a:ext cx="462915" cy="9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E39A90-EE11-4E8C-804A-351BFC35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09610" y="5145405"/>
            <a:ext cx="462915" cy="5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BB9E79-54D2-4FE8-8A54-9CC4402A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911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6AF50A-9594-4C82-A6AD-CC06CB6C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006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0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 = 1.72 × 10⁻⁴ kg m²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62A5A4-F26C-49FE-A6F9-8BDD0BB5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911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C32A23-91DD-4579-9B16-C7D7407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0067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cdrag = 2.41 × 10⁻⁵ kg m² s⁻¹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AFE42C-69C2-4E89-9827-87EC085E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911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4A7CF1-876C-46B6-9853-B69B6B3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0067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 = (6.5 ± 0.5) × 10⁵ A/m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374788-C313-4A0F-94B4-7A4202BC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912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Schematic plots — replace data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EF955E-5403-445D-A2ED-3C6E0F10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721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8BC18C-A9CA-4FA3-B520-0415FC31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816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0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τfriction = 1.48 × 10⁻⁴ N m</a:t>
            </a:r>
          </a:p>
        </p:txBody>
      </p:sp>
    </p:spTree>
    <p:extLst>
      <p:ext uri="{BB962C8B-B14F-4D97-AF65-F5344CB8AC3E}">
        <p14:creationId xmlns:p14="http://schemas.microsoft.com/office/powerpoint/2010/main" val="106517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E071E6-0405-46CD-83C7-83134A9B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35BA4-F547-4E2D-B56C-D3893300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D935B-C794-4780-A8A2-35119A75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51DFE-5094-44E4-9D08-54EDCD8B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Small oscillations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83FEF-9EFE-4BBA-A940-D7E8B842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0B56A-368C-4708-805D-6DFD2A6C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46720-B92F-4D31-A0BC-B6AA59BB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47A8B-78A5-453D-BA9B-42E118A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E946C-772F-4064-BB17-19C0046C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CE824-D7E9-48B2-AD4F-10F85BF2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E2D3A-FB09-449D-AA25-C190F99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27946-B346-4FBA-8B4A-AB6BB581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D801E-AB7F-4C89-A334-20A0311A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m₁, m₂ – Magnetic dipole moment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984C4-241A-4E79-BA17-2F298F52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86125" y="2743200"/>
            <a:ext cx="603257" cy="1392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593AF-E07A-4D90-904D-1CF547D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132" y="27872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F6FF6-5511-4EDB-9574-88C31561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63883" y="2743200"/>
            <a:ext cx="422242" cy="452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C44BF-18CD-479A-BB78-5B655DA9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33" y="3100749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051D2-D199-4FA5-98A7-0626E03B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05110" y="2151128"/>
            <a:ext cx="181015" cy="592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F9E50-E9F7-453B-87B5-8F3E82B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860" y="205587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A5EA0-2523-4012-8109-176400D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44E17-214D-41EE-816D-5F2256E2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15075" y="2743200"/>
            <a:ext cx="467260" cy="4061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F5482-B0BC-4DF7-8126-58E3AFAA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085" y="305413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C1B46-B54A-409F-9576-33DF0CC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29681" y="2743200"/>
            <a:ext cx="585394" cy="201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64A66-21C2-4018-B721-4DDB8A2A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431" y="284951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7C46A-3D41-497D-823B-654B8FAF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15075" y="2135450"/>
            <a:ext cx="118135" cy="60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9674F-1778-4438-AD6E-EB0B8E3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60" y="2040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2FB0D-A768-45FA-B032-19FB2BB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C2D88-12B0-4916-AB88-80A1FCD0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478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E0BE1-BBD2-4068-815F-20E2D3D7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05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D013F-79A3-485A-8165-76DAB60D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52800" y="3819525"/>
            <a:ext cx="2962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A7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9361AA-B161-4A3A-A732-104F1A3C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290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DE507B-2130-4090-AED4-5A72429F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921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Dipole approximation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2048C3-D512-4450-B7C2-5F74E7B5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386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921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Linearized equations of motion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CD6A58-48B1-4C5E-8587-4FDFE511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625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86"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Fmag(d) = 3 μ₀m₁m₂ / (4πd⁴)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2E03EC-09C5-4A5E-9830-924476C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29175"/>
            <a:ext cx="733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62"/>
          </a:bodyPr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19A2EC-FD9D-447E-954A-1492EFC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695825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Iθ̈₁ = K[(R − d₀)θ₁ + Rθ₂]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AB60A4-6075-4F17-9579-8526D65E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133975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Iθ̈₂ = K[Rθ₁ + (R − d₀)θ₂]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2D04BA-7BBA-4784-B585-0AA29745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553075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K = 3 μ₀m₁m₂R / [4π(d₀ − 2R)⁵]</a:t>
            </a:r>
          </a:p>
        </p:txBody>
      </p:sp>
    </p:spTree>
    <p:extLst>
      <p:ext uri="{BB962C8B-B14F-4D97-AF65-F5344CB8AC3E}">
        <p14:creationId xmlns:p14="http://schemas.microsoft.com/office/powerpoint/2010/main" val="538181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991204-EA21-457F-8218-0250EF12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D0E5D-1331-4AD4-8DCF-C44FAA9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89C01-8B15-43CD-989B-DFF19D4D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BCAD7-0DF1-4422-8F06-5D3B3700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Experimental Set-up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C3CA1-3B49-4AC8-A1A0-6D538D0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8627A-8692-4ACC-A190-1441FACB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3AF0F-ABC4-4AE0-933B-C94FD784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491A2-BB91-4F41-9C8F-9AF12577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E6A52-55D9-403E-8B2D-4E40CC5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88392-7850-445D-A6BA-8D7450FF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F1B67-443D-4839-8CA1-584E3519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FFE10-BC0D-461D-AB35-60911A6D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c8189e04d4b02"/>
          <a:stretch xmlns:a="http://schemas.openxmlformats.org/drawingml/2006/main"/>
        </p:blipFill>
        <p:spPr>
          <a:xfrm xmlns:a="http://schemas.openxmlformats.org/drawingml/2006/main" rot="16200000">
            <a:off x="1863620" y="1200150"/>
            <a:ext cx="2740235" cy="5095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E89BD-D2F0-42EE-B23E-3B74BBD3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509587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3eb8bbc6c4661"/>
          <a:stretch xmlns:a="http://schemas.openxmlformats.org/drawingml/2006/main"/>
        </p:blipFill>
        <p:spPr>
          <a:xfrm xmlns:a="http://schemas.openxmlformats.org/drawingml/2006/main" rot="0">
            <a:off x="6667500" y="3119653"/>
            <a:ext cx="1543050" cy="153309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707F2-D74E-45C0-82FD-C3EA24CD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76575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AA7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4A5E1-249D-4674-926E-CF3A732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66875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A4B4D-D037-4D0F-86A7-ADDB8BFF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3D printed</a:t>
            </a:r>
          </a:p>
          <a:p xmlns:a="http://schemas.openxmlformats.org/drawingml/2006/main">
            <a: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fidget spinners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1F40D-90F6-4A95-802B-892849AA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57350"/>
            <a:ext cx="2486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26153-EFC3-4908-89D3-06C4BE5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2114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735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Non-magnetic</a:t>
            </a:r>
          </a:p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ceramic bearings to</a:t>
            </a:r>
          </a:p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reduce friction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938FD-46EB-421C-9F60-0147E01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53100" y="3238500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3BF6F-F7DF-4E68-912E-1563BAD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0533" y="3278717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BB87E-C30C-426E-99A9-B5F7335F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67967" y="3318933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62998-FDDD-48E2-AE8B-5A3F4D0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75400" y="3359150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F2D44-774D-4727-8895-381E2DA3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82833" y="3399367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D0C27-190F-4D91-BFE0-DF56ABEC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53100" y="4455583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0396B2-ED3F-42BB-A5A3-F65B317E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0533" y="4432300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13FFF6-A163-47D0-8087-9B69147F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67967" y="4409017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A6947-5CFE-4A61-9933-138AFD69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75400" y="4385733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1448E-63B3-490A-944F-242625A6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2833" y="4362450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DCC0B-DFC2-4D0B-A777-038299F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959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711F7-5236-4B83-8986-3C038588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054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83F214-394C-4979-8CA0-7C379BB3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340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Two bearings for each spinner</a:t>
            </a:r>
          </a:p>
          <a:p xmlns:a="http://schemas.openxmlformats.org/drawingml/2006/main">
            <a:pPr algn="l">
              <a:defRPr sz="15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to prevent wobbling</a:t>
            </a:r>
          </a:p>
        </p:txBody>
      </p:sp>
    </p:spTree>
    <p:extLst>
      <p:ext uri="{BB962C8B-B14F-4D97-AF65-F5344CB8AC3E}">
        <p14:creationId xmlns:p14="http://schemas.microsoft.com/office/powerpoint/2010/main" val="14809320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6BA66-9FDE-4BF8-8FB7-66131573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15184-2933-4B5A-99E9-478C1C0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09419-3AFD-4BE2-A04E-4FBD089B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FD8D5-FCCA-4630-AB18-4EBD4701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Graph and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523B6-4513-468E-A163-EC7D6AD4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D6FA6-FCC1-407D-BF32-44D1441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0D0E0-04B4-40AC-BDCA-5D20A5A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0BA45-00C6-420C-9F18-735E9761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CF9A7-2EB7-4BDA-BE78-A2E6E7E8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D895E-2833-41CB-A163-FF0B3701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C236C-5173-4363-B274-BD993535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C2AB8-86FD-4038-B1E6-6EEF54B5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66775" y="1628775"/>
          <a:ext xmlns:a="http://schemas.openxmlformats.org/drawingml/2006/main" cx="7429500" cy="408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fce8382c5b4aa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F6D29-FCEB-4613-ACE6-BD23953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DATA — replace values, labels and units</a:t>
            </a:r>
          </a:p>
        </p:txBody>
      </p:sp>
    </p:spTree>
    <p:extLst>
      <p:ext uri="{BB962C8B-B14F-4D97-AF65-F5344CB8AC3E}">
        <p14:creationId xmlns:p14="http://schemas.microsoft.com/office/powerpoint/2010/main" val="3432296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D8A6F-5589-4E26-8AB2-65A1E72F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EA266-7761-4610-AA80-3E85EE3B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752C-DB64-4D8C-80C5-CAAEDD95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477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33BB3-D9B1-4969-8FCD-8B0F9A8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Graph with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C8CEA-0A4F-4ED2-BD1C-213855F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AC978-99BE-43D8-994E-EC90373E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8188B-454A-4E1C-865A-D6232701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81BFB-2CA2-494F-AEC5-C9ECF0AA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00ED4-5713-4188-A8EA-24011454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73BBD-B0BC-4454-8FD9-FFBAD256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6E058-5A5A-40ED-921E-07CA6BB4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F9546-25A3-4933-BD82-A7B9F48A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866775" y="1628775"/>
          <a:ext xmlns:a="http://schemas.openxmlformats.org/drawingml/2006/main" cx="7429500" cy="408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63be744d914dab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46BC4-721D-4CAE-981E-DC61904E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DATA — replace values, labels and 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F9E0D-562A-46A9-A630-688D2671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52775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D49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ABD07-D921-465F-848D-E1F72B46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7905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the supported conclusion here</a:t>
            </a:r>
          </a:p>
        </p:txBody>
      </p:sp>
    </p:spTree>
    <p:extLst>
      <p:ext uri="{BB962C8B-B14F-4D97-AF65-F5344CB8AC3E}">
        <p14:creationId xmlns:p14="http://schemas.microsoft.com/office/powerpoint/2010/main" val="1473134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FD717-E096-4EC1-BD80-A068A1EF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EB900-F408-4BA4-AE7F-AD1915D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20210-F118-41D2-AC14-98A2F6CC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EE10-18AE-4994-935F-55248EED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Theory and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D109D-0B86-464C-AD0C-60D23262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C18D1-351B-41CF-BF93-1B0E3EF0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5623A-D328-4FE0-96C1-55E5C60B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C46A1-3F85-4B65-8BFA-E768A10C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11D2C-7A5D-4641-BB49-4FB4F875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0CEDF-5F24-423E-80D0-000DD53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B4FEB-DF44-491F-A0E2-2AC87165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C3DB8-F304-41DB-8C08-5A35956C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13ADC-5D59-4422-9838-D392770E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66850"/>
            <a:ext cx="3733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E9751-0ED3-48D2-8A61-9A91ED3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76375"/>
            <a:ext cx="365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A7045-A011-4F3A-BAC8-5CDA077E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3733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D4EF6-72A0-4B82-AE06-BD93A1CA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76375"/>
            <a:ext cx="365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42A78-CCBB-466E-A87B-3897CD57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71675"/>
            <a:ext cx="3733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568A2-8C3F-42C0-8A9C-251831EE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71675"/>
            <a:ext cx="3733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ABD46-BF6B-4F07-9433-8A37C13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28950"/>
            <a:ext cx="3048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Insert measured graph, photo or video still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AACF7-5718-485D-8ECF-7E055149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2943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Insert model prediction or mechanism diagram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B500C-9243-4C97-B2B3-3028B9AC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572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State the agreement and the disagreement, including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1400339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5D98E-1389-4759-8D87-1B014799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608FA-F40C-4945-A131-0A42F70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D3B5A-55B9-4044-B34A-9DACF102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2DA3D-9D50-417F-8E69-A79738D2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2A8B1-8F31-495B-A909-DA31E5BB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48367-D7B7-492C-A978-3D153163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03647-AB6C-4AED-9A13-53181F7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04FA8-70D5-458E-A357-8CFAF098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9E28B-6589-4B4F-AB38-EBF07344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078BB-47D7-480F-BA63-DD1C50B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37F14-5AD8-4A1C-BDEC-A8A3CDF2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BFC13-89FC-46F9-A076-BCAA8201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FB795-0E93-4134-B516-9862C39C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8048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identical fidget spinners and attach neodymium magnets to their ends. If you place them side by side on a plane and rotate one of them, the remaining ones start to rotate only due to the magnetic field. Investigate and explain the phenomenon.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666D7-94C6-464D-AE1E-1210968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E8F1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85047-13CD-48DD-802F-6077383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Main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28EDC-62B5-4E93-AC9E-60C871B9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24125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E8F1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8C21D-3960-4B5D-B3C4-701ECC7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Key 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97108-3306-4399-826D-45A47E1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32670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Physical mechanism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Assumptions and limits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Parameter dependence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5AC1F-5F47-4E2B-AA01-BE8BE103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32670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Measured trend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Theory comparison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Remaining discrepancy</a:t>
            </a:r>
          </a:p>
        </p:txBody>
      </p:sp>
    </p:spTree>
    <p:extLst>
      <p:ext uri="{BB962C8B-B14F-4D97-AF65-F5344CB8AC3E}">
        <p14:creationId xmlns:p14="http://schemas.microsoft.com/office/powerpoint/2010/main" val="17055251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26EA9-C245-4C50-8810-D42661CD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436C-AFB9-46DB-A41D-6B2860EA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A1EA8-6077-4C3E-A72D-D023EA2A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9D629-7160-46C2-8BE6-478701DC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B1E65-7583-4B7B-B321-8A080911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76771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1. Author, title, publication,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2. Data or apparatus source, locator,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3. Figure and image credits, where applicable.</a:t>
            </a:r>
          </a:p>
        </p:txBody>
      </p:sp>
    </p:spTree>
    <p:extLst>
      <p:ext uri="{BB962C8B-B14F-4D97-AF65-F5344CB8AC3E}">
        <p14:creationId xmlns:p14="http://schemas.microsoft.com/office/powerpoint/2010/main" val="4715327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C99CA-5A69-4AFF-B381-6F10317C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546B4-3E15-4F68-BADB-4B4BBC68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7816B-1D62-43AD-ACA2-BC82480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14C53-24B3-4C5A-889B-ACEA8CBA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3906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45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Thank you!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DFD38-22F7-438A-A18F-535BCE67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6692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Team name | Presenter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3DA41-C8D5-43C1-B397-3CE4C82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819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46A06-DC95-4F36-B2FD-850105C7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15100" y="4181475"/>
            <a:ext cx="742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27EEC-DC34-44DF-AD7A-BA40D9F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86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D84AA-705E-4840-B205-E0859CA2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15100" y="4181475"/>
            <a:ext cx="9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D56F4-DCE1-49F0-A50A-DE1C49DE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29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5AF8D-DC82-4655-91E5-B497F2BE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72150" y="4181475"/>
            <a:ext cx="742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14627-5136-4170-86A4-93DF5BA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86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7DF61-5958-4560-ACBF-2476F929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15100" y="3438525"/>
            <a:ext cx="9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B8269-E4F2-4C80-88DD-E088182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6DF10-E3AB-4A9B-8A20-6EA696E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529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E8FF7-45B5-409A-B92D-450A6CB4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10. Magnetic Gear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1EA07-EE4D-497D-9E3E-E4D35045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819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1617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2026-09-28T17:06:03.3670000Z</dcterms:created>
  <dcterms:modified xsi:type="dcterms:W3CDTF">2026-09-28T17:06:03.3670000Z</dcterms:modified>
</coreProperties>
</file>